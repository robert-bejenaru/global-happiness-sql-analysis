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6" r:id="rId5"/>
    <p:sldId id="257" r:id="rId6"/>
    <p:sldId id="286" r:id="rId7"/>
    <p:sldId id="260" r:id="rId8"/>
    <p:sldId id="287" r:id="rId9"/>
    <p:sldId id="258" r:id="rId10"/>
    <p:sldId id="261" r:id="rId11"/>
    <p:sldId id="288" r:id="rId12"/>
    <p:sldId id="290" r:id="rId13"/>
    <p:sldId id="291" r:id="rId14"/>
    <p:sldId id="293" r:id="rId15"/>
    <p:sldId id="29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990" y="3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GB" sz="2400" baseline="0" dirty="0">
                <a:solidFill>
                  <a:schemeClr val="bg1"/>
                </a:solidFill>
              </a:rPr>
              <a:t>Country with the highest GDP per capita vs global average happiness</a:t>
            </a:r>
            <a:endParaRPr lang="en-US" sz="2400" baseline="0" dirty="0">
              <a:solidFill>
                <a:schemeClr val="bg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Value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Qatar</c:v>
                </c:pt>
                <c:pt idx="1">
                  <c:v>Average Global Hapiness</c:v>
                </c:pt>
              </c:strCache>
            </c:strRef>
          </c:cat>
          <c:val>
            <c:numRef>
              <c:f>Sheet1!$B$2:$B$3</c:f>
              <c:numCache>
                <c:formatCode>General</c:formatCode>
                <c:ptCount val="2"/>
                <c:pt idx="0">
                  <c:v>1.68</c:v>
                </c:pt>
                <c:pt idx="1">
                  <c:v>5.41</c:v>
                </c:pt>
              </c:numCache>
            </c:numRef>
          </c:val>
          <c:extLst>
            <c:ext xmlns:c16="http://schemas.microsoft.com/office/drawing/2014/chart" uri="{C3380CC4-5D6E-409C-BE32-E72D297353CC}">
              <c16:uniqueId val="{00000000-FCE3-4A56-A372-3C2AE8E3B0CA}"/>
            </c:ext>
          </c:extLst>
        </c:ser>
        <c:dLbls>
          <c:showLegendKey val="0"/>
          <c:showVal val="0"/>
          <c:showCatName val="0"/>
          <c:showSerName val="0"/>
          <c:showPercent val="0"/>
          <c:showBubbleSize val="0"/>
        </c:dLbls>
        <c:gapWidth val="219"/>
        <c:overlap val="-27"/>
        <c:axId val="182627951"/>
        <c:axId val="182630831"/>
      </c:barChart>
      <c:catAx>
        <c:axId val="182627951"/>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182630831"/>
        <c:crosses val="autoZero"/>
        <c:auto val="1"/>
        <c:lblAlgn val="ctr"/>
        <c:lblOffset val="100"/>
        <c:noMultiLvlLbl val="0"/>
      </c:catAx>
      <c:valAx>
        <c:axId val="1826308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18262795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Column3</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New Zealand</c:v>
                </c:pt>
                <c:pt idx="1">
                  <c:v>Denmark</c:v>
                </c:pt>
                <c:pt idx="2">
                  <c:v>Norway</c:v>
                </c:pt>
                <c:pt idx="3">
                  <c:v>Finland</c:v>
                </c:pt>
                <c:pt idx="4">
                  <c:v>Iceland</c:v>
                </c:pt>
              </c:strCache>
            </c:strRef>
          </c:cat>
          <c:val>
            <c:numRef>
              <c:f>Sheet1!$B$2:$B$6</c:f>
              <c:numCache>
                <c:formatCode>General</c:formatCode>
                <c:ptCount val="5"/>
                <c:pt idx="0">
                  <c:v>1.56</c:v>
                </c:pt>
                <c:pt idx="1">
                  <c:v>1.57</c:v>
                </c:pt>
                <c:pt idx="2">
                  <c:v>1.58</c:v>
                </c:pt>
                <c:pt idx="3">
                  <c:v>1.59</c:v>
                </c:pt>
                <c:pt idx="4">
                  <c:v>1.62</c:v>
                </c:pt>
              </c:numCache>
            </c:numRef>
          </c:val>
          <c:extLst>
            <c:ext xmlns:c16="http://schemas.microsoft.com/office/drawing/2014/chart" uri="{C3380CC4-5D6E-409C-BE32-E72D297353CC}">
              <c16:uniqueId val="{00000000-E8E8-4043-90D9-9BD8464F7EFF}"/>
            </c:ext>
          </c:extLst>
        </c:ser>
        <c:dLbls>
          <c:dLblPos val="outEnd"/>
          <c:showLegendKey val="0"/>
          <c:showVal val="1"/>
          <c:showCatName val="0"/>
          <c:showSerName val="0"/>
          <c:showPercent val="0"/>
          <c:showBubbleSize val="0"/>
        </c:dLbls>
        <c:gapWidth val="182"/>
        <c:axId val="64986287"/>
        <c:axId val="65005007"/>
      </c:barChart>
      <c:catAx>
        <c:axId val="6498628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65005007"/>
        <c:crosses val="autoZero"/>
        <c:auto val="1"/>
        <c:lblAlgn val="ctr"/>
        <c:lblOffset val="100"/>
        <c:noMultiLvlLbl val="0"/>
      </c:catAx>
      <c:valAx>
        <c:axId val="650050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6498628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FFFF00"/>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Column3</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France</c:v>
                </c:pt>
                <c:pt idx="1">
                  <c:v>Spain</c:v>
                </c:pt>
                <c:pt idx="2">
                  <c:v>Japan</c:v>
                </c:pt>
                <c:pt idx="3">
                  <c:v>Hong Kong</c:v>
                </c:pt>
                <c:pt idx="4">
                  <c:v>Singapore</c:v>
                </c:pt>
              </c:strCache>
            </c:strRef>
          </c:cat>
          <c:val>
            <c:numRef>
              <c:f>Sheet1!$B$2:$B$6</c:f>
              <c:numCache>
                <c:formatCode>General</c:formatCode>
                <c:ptCount val="5"/>
                <c:pt idx="0">
                  <c:v>1.05</c:v>
                </c:pt>
                <c:pt idx="1">
                  <c:v>1.06</c:v>
                </c:pt>
                <c:pt idx="2">
                  <c:v>1.0900000000000001</c:v>
                </c:pt>
                <c:pt idx="3">
                  <c:v>1.1200000000000001</c:v>
                </c:pt>
                <c:pt idx="4">
                  <c:v>1.1399999999999999</c:v>
                </c:pt>
              </c:numCache>
            </c:numRef>
          </c:val>
          <c:extLst>
            <c:ext xmlns:c16="http://schemas.microsoft.com/office/drawing/2014/chart" uri="{C3380CC4-5D6E-409C-BE32-E72D297353CC}">
              <c16:uniqueId val="{00000000-E8E8-4043-90D9-9BD8464F7EFF}"/>
            </c:ext>
          </c:extLst>
        </c:ser>
        <c:dLbls>
          <c:dLblPos val="outEnd"/>
          <c:showLegendKey val="0"/>
          <c:showVal val="1"/>
          <c:showCatName val="0"/>
          <c:showSerName val="0"/>
          <c:showPercent val="0"/>
          <c:showBubbleSize val="0"/>
        </c:dLbls>
        <c:gapWidth val="182"/>
        <c:axId val="64986287"/>
        <c:axId val="65005007"/>
      </c:barChart>
      <c:catAx>
        <c:axId val="6498628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65005007"/>
        <c:crosses val="autoZero"/>
        <c:auto val="1"/>
        <c:lblAlgn val="ctr"/>
        <c:lblOffset val="100"/>
        <c:noMultiLvlLbl val="0"/>
      </c:catAx>
      <c:valAx>
        <c:axId val="650050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6498628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FFFF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Hapiness Score</c:v>
                </c:pt>
              </c:strCache>
            </c:strRef>
          </c:tx>
          <c:spPr>
            <a:ln w="25400" cap="rnd">
              <a:noFill/>
              <a:round/>
            </a:ln>
            <a:effectLst/>
          </c:spPr>
          <c:marker>
            <c:symbol val="circle"/>
            <c:size val="5"/>
            <c:spPr>
              <a:solidFill>
                <a:srgbClr val="FFFF00"/>
              </a:solidFill>
              <a:ln w="9525">
                <a:solidFill>
                  <a:schemeClr val="accent1"/>
                </a:solidFill>
              </a:ln>
              <a:effectLst/>
            </c:spPr>
          </c:marker>
          <c:xVal>
            <c:numRef>
              <c:f>Sheet1!$A$2:$A$16</c:f>
              <c:numCache>
                <c:formatCode>General</c:formatCode>
                <c:ptCount val="15"/>
                <c:pt idx="0">
                  <c:v>0.45</c:v>
                </c:pt>
                <c:pt idx="1">
                  <c:v>0.41</c:v>
                </c:pt>
                <c:pt idx="2">
                  <c:v>0.41</c:v>
                </c:pt>
                <c:pt idx="3">
                  <c:v>0.39</c:v>
                </c:pt>
                <c:pt idx="4">
                  <c:v>0.38</c:v>
                </c:pt>
                <c:pt idx="5">
                  <c:v>0.37</c:v>
                </c:pt>
                <c:pt idx="6">
                  <c:v>0.34</c:v>
                </c:pt>
                <c:pt idx="7">
                  <c:v>0.34</c:v>
                </c:pt>
                <c:pt idx="8">
                  <c:v>0.32</c:v>
                </c:pt>
                <c:pt idx="9">
                  <c:v>0.31</c:v>
                </c:pt>
                <c:pt idx="10">
                  <c:v>0.31</c:v>
                </c:pt>
                <c:pt idx="11">
                  <c:v>0.3</c:v>
                </c:pt>
                <c:pt idx="12">
                  <c:v>0.28999999999999998</c:v>
                </c:pt>
                <c:pt idx="13">
                  <c:v>0.28999999999999998</c:v>
                </c:pt>
                <c:pt idx="14">
                  <c:v>0.28000000000000003</c:v>
                </c:pt>
              </c:numCache>
            </c:numRef>
          </c:xVal>
          <c:yVal>
            <c:numRef>
              <c:f>Sheet1!$B$2:$B$16</c:f>
              <c:numCache>
                <c:formatCode>General</c:formatCode>
                <c:ptCount val="15"/>
                <c:pt idx="0">
                  <c:v>6.26</c:v>
                </c:pt>
                <c:pt idx="1">
                  <c:v>7.6</c:v>
                </c:pt>
                <c:pt idx="2">
                  <c:v>3.33</c:v>
                </c:pt>
                <c:pt idx="3">
                  <c:v>7.77</c:v>
                </c:pt>
                <c:pt idx="4">
                  <c:v>7.31</c:v>
                </c:pt>
                <c:pt idx="5">
                  <c:v>7.34</c:v>
                </c:pt>
                <c:pt idx="6">
                  <c:v>7.48</c:v>
                </c:pt>
                <c:pt idx="7">
                  <c:v>7.55</c:v>
                </c:pt>
                <c:pt idx="8">
                  <c:v>7.09</c:v>
                </c:pt>
                <c:pt idx="9">
                  <c:v>7.02</c:v>
                </c:pt>
                <c:pt idx="10">
                  <c:v>7.28</c:v>
                </c:pt>
                <c:pt idx="11">
                  <c:v>7.49</c:v>
                </c:pt>
                <c:pt idx="12">
                  <c:v>5.43</c:v>
                </c:pt>
                <c:pt idx="13">
                  <c:v>7.23</c:v>
                </c:pt>
                <c:pt idx="14">
                  <c:v>7.05</c:v>
                </c:pt>
              </c:numCache>
            </c:numRef>
          </c:yVal>
          <c:smooth val="0"/>
          <c:extLst>
            <c:ext xmlns:c16="http://schemas.microsoft.com/office/drawing/2014/chart" uri="{C3380CC4-5D6E-409C-BE32-E72D297353CC}">
              <c16:uniqueId val="{00000000-0AD2-49C3-8FA0-658CBE6781D2}"/>
            </c:ext>
          </c:extLst>
        </c:ser>
        <c:dLbls>
          <c:showLegendKey val="0"/>
          <c:showVal val="0"/>
          <c:showCatName val="0"/>
          <c:showSerName val="0"/>
          <c:showPercent val="0"/>
          <c:showBubbleSize val="0"/>
        </c:dLbls>
        <c:axId val="64982447"/>
        <c:axId val="64993487"/>
      </c:scatterChart>
      <c:valAx>
        <c:axId val="64982447"/>
        <c:scaling>
          <c:orientation val="minMax"/>
          <c:min val="0.25"/>
        </c:scaling>
        <c:delete val="0"/>
        <c:axPos val="b"/>
        <c:majorGridlines>
          <c:spPr>
            <a:ln w="9525" cap="flat" cmpd="sng" algn="ctr">
              <a:solidFill>
                <a:schemeClr val="tx2">
                  <a:lumMod val="75000"/>
                </a:schemeClr>
              </a:solidFill>
              <a:round/>
            </a:ln>
            <a:effectLst/>
          </c:spPr>
        </c:majorGridlines>
        <c:title>
          <c:tx>
            <c:rich>
              <a:bodyPr rot="0" spcFirstLastPara="1" vertOverflow="ellipsis" vert="horz" wrap="square" anchor="ctr" anchorCtr="1"/>
              <a:lstStyle/>
              <a:p>
                <a:pPr>
                  <a:defRPr sz="2000" b="0" i="0" u="none" strike="noStrike" kern="1200" baseline="0">
                    <a:solidFill>
                      <a:srgbClr val="FFFF00"/>
                    </a:solidFill>
                    <a:latin typeface="+mn-lt"/>
                    <a:ea typeface="+mn-ea"/>
                    <a:cs typeface="+mn-cs"/>
                  </a:defRPr>
                </a:pPr>
                <a:r>
                  <a:rPr lang="en-GB" sz="2000" dirty="0">
                    <a:solidFill>
                      <a:srgbClr val="FFFF00"/>
                    </a:solidFill>
                  </a:rPr>
                  <a:t>Corruption Perception</a:t>
                </a:r>
              </a:p>
            </c:rich>
          </c:tx>
          <c:overlay val="0"/>
          <c:spPr>
            <a:noFill/>
            <a:ln>
              <a:noFill/>
            </a:ln>
            <a:effectLst/>
          </c:spPr>
          <c:txPr>
            <a:bodyPr rot="0" spcFirstLastPara="1" vertOverflow="ellipsis" vert="horz" wrap="square" anchor="ctr" anchorCtr="1"/>
            <a:lstStyle/>
            <a:p>
              <a:pPr>
                <a:defRPr sz="2000" b="0" i="0" u="none" strike="noStrike" kern="1200" baseline="0">
                  <a:solidFill>
                    <a:srgbClr val="FFFF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64993487"/>
        <c:crosses val="autoZero"/>
        <c:crossBetween val="midCat"/>
      </c:valAx>
      <c:valAx>
        <c:axId val="64993487"/>
        <c:scaling>
          <c:orientation val="minMax"/>
          <c:min val="3"/>
        </c:scaling>
        <c:delete val="0"/>
        <c:axPos val="l"/>
        <c:majorGridlines>
          <c:spPr>
            <a:ln w="9525" cap="flat" cmpd="sng" algn="ctr">
              <a:solidFill>
                <a:schemeClr val="tx2">
                  <a:lumMod val="75000"/>
                </a:schemeClr>
              </a:solidFill>
              <a:round/>
            </a:ln>
            <a:effectLst/>
          </c:spPr>
        </c:majorGridlines>
        <c:title>
          <c:tx>
            <c:rich>
              <a:bodyPr rot="-5400000" spcFirstLastPara="1" vertOverflow="ellipsis" vert="horz" wrap="square" anchor="ctr" anchorCtr="1"/>
              <a:lstStyle/>
              <a:p>
                <a:pPr>
                  <a:defRPr sz="2000" b="0" i="0" u="none" strike="noStrike" kern="1200" baseline="0">
                    <a:solidFill>
                      <a:srgbClr val="FFFF00"/>
                    </a:solidFill>
                    <a:latin typeface="+mn-lt"/>
                    <a:ea typeface="+mn-ea"/>
                    <a:cs typeface="+mn-cs"/>
                  </a:defRPr>
                </a:pPr>
                <a:r>
                  <a:rPr lang="en-GB" sz="2000" dirty="0">
                    <a:solidFill>
                      <a:srgbClr val="FFFF00"/>
                    </a:solidFill>
                  </a:rPr>
                  <a:t>Happiness Scores</a:t>
                </a:r>
              </a:p>
            </c:rich>
          </c:tx>
          <c:layout>
            <c:manualLayout>
              <c:xMode val="edge"/>
              <c:yMode val="edge"/>
              <c:x val="7.8125E-3"/>
              <c:y val="0.23024315032005621"/>
            </c:manualLayout>
          </c:layout>
          <c:overlay val="0"/>
          <c:spPr>
            <a:noFill/>
            <a:ln>
              <a:noFill/>
            </a:ln>
            <a:effectLst/>
          </c:spPr>
          <c:txPr>
            <a:bodyPr rot="-5400000" spcFirstLastPara="1" vertOverflow="ellipsis" vert="horz" wrap="square" anchor="ctr" anchorCtr="1"/>
            <a:lstStyle/>
            <a:p>
              <a:pPr>
                <a:defRPr sz="2000" b="0" i="0" u="none" strike="noStrike" kern="1200" baseline="0">
                  <a:solidFill>
                    <a:srgbClr val="FFFF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64982447"/>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Average Generosity</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2"/>
                <c:pt idx="0">
                  <c:v>Above Average Happiness</c:v>
                </c:pt>
                <c:pt idx="1">
                  <c:v>Below Average Happiness</c:v>
                </c:pt>
              </c:strCache>
            </c:strRef>
          </c:cat>
          <c:val>
            <c:numRef>
              <c:f>Sheet1!$B$2:$B$5</c:f>
              <c:numCache>
                <c:formatCode>General</c:formatCode>
                <c:ptCount val="2"/>
                <c:pt idx="0">
                  <c:v>0.18</c:v>
                </c:pt>
                <c:pt idx="1">
                  <c:v>0.19</c:v>
                </c:pt>
              </c:numCache>
            </c:numRef>
          </c:val>
          <c:extLst>
            <c:ext xmlns:c16="http://schemas.microsoft.com/office/drawing/2014/chart" uri="{C3380CC4-5D6E-409C-BE32-E72D297353CC}">
              <c16:uniqueId val="{00000000-CDDB-4FE7-B1DF-56F5F7A29577}"/>
            </c:ext>
          </c:extLst>
        </c:ser>
        <c:dLbls>
          <c:dLblPos val="outEnd"/>
          <c:showLegendKey val="0"/>
          <c:showVal val="1"/>
          <c:showCatName val="0"/>
          <c:showSerName val="0"/>
          <c:showPercent val="0"/>
          <c:showBubbleSize val="0"/>
        </c:dLbls>
        <c:gapWidth val="219"/>
        <c:overlap val="-27"/>
        <c:axId val="2104710688"/>
        <c:axId val="2104711168"/>
      </c:barChart>
      <c:catAx>
        <c:axId val="2104710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2104711168"/>
        <c:crosses val="autoZero"/>
        <c:auto val="1"/>
        <c:lblAlgn val="ctr"/>
        <c:lblOffset val="100"/>
        <c:noMultiLvlLbl val="0"/>
      </c:catAx>
      <c:valAx>
        <c:axId val="2104711168"/>
        <c:scaling>
          <c:orientation val="minMax"/>
          <c:max val="0.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crossAx val="21047106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FFFF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2/26/2026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2/26/2026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931755" y="1201927"/>
            <a:ext cx="9151112" cy="1659805"/>
          </a:xfrm>
        </p:spPr>
        <p:txBody>
          <a:bodyPr/>
          <a:lstStyle/>
          <a:p>
            <a:r>
              <a:rPr lang="en-GB" sz="5400" dirty="0"/>
              <a:t>SQL Project: Exploring Global Happiness with SQL</a:t>
            </a:r>
            <a:endParaRPr lang="en-US" sz="5400"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557272" y="2994660"/>
            <a:ext cx="7077456" cy="868680"/>
          </a:xfrm>
        </p:spPr>
        <p:txBody>
          <a:bodyPr/>
          <a:lstStyle/>
          <a:p>
            <a:pPr marL="0" indent="0">
              <a:buNone/>
            </a:pPr>
            <a:r>
              <a:rPr lang="en-US" dirty="0"/>
              <a:t>Robert Bejenaru – Data analyst career program</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 y="0"/>
            <a:ext cx="11077576" cy="859055"/>
          </a:xfrm>
        </p:spPr>
        <p:txBody>
          <a:bodyPr>
            <a:noAutofit/>
          </a:bodyPr>
          <a:lstStyle/>
          <a:p>
            <a:r>
              <a:rPr lang="en-US" sz="4400" dirty="0"/>
              <a:t>All Countries and their happiness scores</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pic>
        <p:nvPicPr>
          <p:cNvPr id="24" name="Picture 23">
            <a:extLst>
              <a:ext uri="{FF2B5EF4-FFF2-40B4-BE49-F238E27FC236}">
                <a16:creationId xmlns:a16="http://schemas.microsoft.com/office/drawing/2014/main" id="{FD49EAFF-BFC9-1606-0C1B-49DA2FCF3FEC}"/>
              </a:ext>
            </a:extLst>
          </p:cNvPr>
          <p:cNvPicPr>
            <a:picLocks noChangeAspect="1"/>
          </p:cNvPicPr>
          <p:nvPr/>
        </p:nvPicPr>
        <p:blipFill>
          <a:blip r:embed="rId2"/>
          <a:stretch>
            <a:fillRect/>
          </a:stretch>
        </p:blipFill>
        <p:spPr>
          <a:xfrm>
            <a:off x="92555" y="782855"/>
            <a:ext cx="1993420" cy="5998945"/>
          </a:xfrm>
          <a:prstGeom prst="rect">
            <a:avLst/>
          </a:prstGeom>
        </p:spPr>
      </p:pic>
      <p:pic>
        <p:nvPicPr>
          <p:cNvPr id="26" name="Picture 25">
            <a:extLst>
              <a:ext uri="{FF2B5EF4-FFF2-40B4-BE49-F238E27FC236}">
                <a16:creationId xmlns:a16="http://schemas.microsoft.com/office/drawing/2014/main" id="{1AFF906F-C007-2C89-5DEB-42CAE85D5F83}"/>
              </a:ext>
            </a:extLst>
          </p:cNvPr>
          <p:cNvPicPr>
            <a:picLocks noChangeAspect="1"/>
          </p:cNvPicPr>
          <p:nvPr/>
        </p:nvPicPr>
        <p:blipFill>
          <a:blip r:embed="rId3"/>
          <a:stretch>
            <a:fillRect/>
          </a:stretch>
        </p:blipFill>
        <p:spPr>
          <a:xfrm>
            <a:off x="2085974" y="782853"/>
            <a:ext cx="1993421" cy="5998945"/>
          </a:xfrm>
          <a:prstGeom prst="rect">
            <a:avLst/>
          </a:prstGeom>
        </p:spPr>
      </p:pic>
      <p:pic>
        <p:nvPicPr>
          <p:cNvPr id="28" name="Picture 27">
            <a:extLst>
              <a:ext uri="{FF2B5EF4-FFF2-40B4-BE49-F238E27FC236}">
                <a16:creationId xmlns:a16="http://schemas.microsoft.com/office/drawing/2014/main" id="{123C134F-9BF7-0D2E-00BC-615A742F13BD}"/>
              </a:ext>
            </a:extLst>
          </p:cNvPr>
          <p:cNvPicPr>
            <a:picLocks noChangeAspect="1"/>
          </p:cNvPicPr>
          <p:nvPr/>
        </p:nvPicPr>
        <p:blipFill>
          <a:blip r:embed="rId4"/>
          <a:stretch>
            <a:fillRect/>
          </a:stretch>
        </p:blipFill>
        <p:spPr>
          <a:xfrm>
            <a:off x="4079395" y="782851"/>
            <a:ext cx="1993420" cy="5998947"/>
          </a:xfrm>
          <a:prstGeom prst="rect">
            <a:avLst/>
          </a:prstGeom>
        </p:spPr>
      </p:pic>
      <p:pic>
        <p:nvPicPr>
          <p:cNvPr id="30" name="Picture 29">
            <a:extLst>
              <a:ext uri="{FF2B5EF4-FFF2-40B4-BE49-F238E27FC236}">
                <a16:creationId xmlns:a16="http://schemas.microsoft.com/office/drawing/2014/main" id="{C1472A37-1072-5C69-0894-7BD6D2DC1658}"/>
              </a:ext>
            </a:extLst>
          </p:cNvPr>
          <p:cNvPicPr>
            <a:picLocks noChangeAspect="1"/>
          </p:cNvPicPr>
          <p:nvPr/>
        </p:nvPicPr>
        <p:blipFill>
          <a:blip r:embed="rId5"/>
          <a:stretch>
            <a:fillRect/>
          </a:stretch>
        </p:blipFill>
        <p:spPr>
          <a:xfrm>
            <a:off x="6072815" y="782850"/>
            <a:ext cx="1993420" cy="5998948"/>
          </a:xfrm>
          <a:prstGeom prst="rect">
            <a:avLst/>
          </a:prstGeom>
        </p:spPr>
      </p:pic>
      <p:pic>
        <p:nvPicPr>
          <p:cNvPr id="32" name="Picture 31">
            <a:extLst>
              <a:ext uri="{FF2B5EF4-FFF2-40B4-BE49-F238E27FC236}">
                <a16:creationId xmlns:a16="http://schemas.microsoft.com/office/drawing/2014/main" id="{7F0C8159-7960-6990-A568-95E261FBB9F8}"/>
              </a:ext>
            </a:extLst>
          </p:cNvPr>
          <p:cNvPicPr>
            <a:picLocks noChangeAspect="1"/>
          </p:cNvPicPr>
          <p:nvPr/>
        </p:nvPicPr>
        <p:blipFill>
          <a:blip r:embed="rId6"/>
          <a:stretch>
            <a:fillRect/>
          </a:stretch>
        </p:blipFill>
        <p:spPr>
          <a:xfrm>
            <a:off x="8066235" y="782846"/>
            <a:ext cx="1993420" cy="5998952"/>
          </a:xfrm>
          <a:prstGeom prst="rect">
            <a:avLst/>
          </a:prstGeom>
        </p:spPr>
      </p:pic>
      <p:pic>
        <p:nvPicPr>
          <p:cNvPr id="34" name="Picture 33">
            <a:extLst>
              <a:ext uri="{FF2B5EF4-FFF2-40B4-BE49-F238E27FC236}">
                <a16:creationId xmlns:a16="http://schemas.microsoft.com/office/drawing/2014/main" id="{F416F31B-E9D1-2281-EC99-C49D272E1E6A}"/>
              </a:ext>
            </a:extLst>
          </p:cNvPr>
          <p:cNvPicPr>
            <a:picLocks noChangeAspect="1"/>
          </p:cNvPicPr>
          <p:nvPr/>
        </p:nvPicPr>
        <p:blipFill>
          <a:blip r:embed="rId7"/>
          <a:stretch>
            <a:fillRect/>
          </a:stretch>
        </p:blipFill>
        <p:spPr>
          <a:xfrm>
            <a:off x="10059655" y="1087646"/>
            <a:ext cx="1993420" cy="1438275"/>
          </a:xfrm>
          <a:prstGeom prst="rect">
            <a:avLst/>
          </a:prstGeom>
        </p:spPr>
      </p:pic>
      <p:pic>
        <p:nvPicPr>
          <p:cNvPr id="36" name="Picture 35">
            <a:extLst>
              <a:ext uri="{FF2B5EF4-FFF2-40B4-BE49-F238E27FC236}">
                <a16:creationId xmlns:a16="http://schemas.microsoft.com/office/drawing/2014/main" id="{6D7A2F9A-6AF6-2502-4BF8-E7BD851645EA}"/>
              </a:ext>
            </a:extLst>
          </p:cNvPr>
          <p:cNvPicPr>
            <a:picLocks noChangeAspect="1"/>
          </p:cNvPicPr>
          <p:nvPr/>
        </p:nvPicPr>
        <p:blipFill>
          <a:blip r:embed="rId8"/>
          <a:stretch>
            <a:fillRect/>
          </a:stretch>
        </p:blipFill>
        <p:spPr>
          <a:xfrm>
            <a:off x="10059655" y="782846"/>
            <a:ext cx="1993420" cy="304800"/>
          </a:xfrm>
          <a:prstGeom prst="rect">
            <a:avLst/>
          </a:prstGeom>
        </p:spPr>
      </p:pic>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557212" y="351523"/>
            <a:ext cx="11077576" cy="859055"/>
          </a:xfrm>
        </p:spPr>
        <p:txBody>
          <a:bodyPr>
            <a:noAutofit/>
          </a:bodyPr>
          <a:lstStyle/>
          <a:p>
            <a:r>
              <a:rPr lang="en-US" sz="4400" dirty="0"/>
              <a:t>Top 10 happiest VS Bottom 10 Countries</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3</a:t>
            </a:fld>
            <a:endParaRPr lang="en-US" dirty="0"/>
          </a:p>
        </p:txBody>
      </p:sp>
      <p:pic>
        <p:nvPicPr>
          <p:cNvPr id="5" name="Picture 4">
            <a:extLst>
              <a:ext uri="{FF2B5EF4-FFF2-40B4-BE49-F238E27FC236}">
                <a16:creationId xmlns:a16="http://schemas.microsoft.com/office/drawing/2014/main" id="{E2447F93-0868-9E8C-4B20-B42AD749B2E8}"/>
              </a:ext>
            </a:extLst>
          </p:cNvPr>
          <p:cNvPicPr>
            <a:picLocks noChangeAspect="1"/>
          </p:cNvPicPr>
          <p:nvPr/>
        </p:nvPicPr>
        <p:blipFill>
          <a:blip r:embed="rId2"/>
          <a:stretch>
            <a:fillRect/>
          </a:stretch>
        </p:blipFill>
        <p:spPr>
          <a:xfrm>
            <a:off x="571499" y="2200274"/>
            <a:ext cx="4090561" cy="3876675"/>
          </a:xfrm>
          <a:prstGeom prst="rect">
            <a:avLst/>
          </a:prstGeom>
        </p:spPr>
      </p:pic>
      <p:sp>
        <p:nvSpPr>
          <p:cNvPr id="6" name="TextBox 5">
            <a:extLst>
              <a:ext uri="{FF2B5EF4-FFF2-40B4-BE49-F238E27FC236}">
                <a16:creationId xmlns:a16="http://schemas.microsoft.com/office/drawing/2014/main" id="{21C148B5-6E3F-2EFE-E727-51E691CE7A45}"/>
              </a:ext>
            </a:extLst>
          </p:cNvPr>
          <p:cNvSpPr txBox="1"/>
          <p:nvPr/>
        </p:nvSpPr>
        <p:spPr>
          <a:xfrm>
            <a:off x="1543049" y="1430833"/>
            <a:ext cx="1962204" cy="769441"/>
          </a:xfrm>
          <a:prstGeom prst="rect">
            <a:avLst/>
          </a:prstGeom>
          <a:noFill/>
        </p:spPr>
        <p:txBody>
          <a:bodyPr wrap="none" rtlCol="0">
            <a:spAutoFit/>
          </a:bodyPr>
          <a:lstStyle/>
          <a:p>
            <a:r>
              <a:rPr lang="en-GB" sz="4400" b="1" dirty="0">
                <a:solidFill>
                  <a:srgbClr val="FFFF00"/>
                </a:solidFill>
              </a:rPr>
              <a:t>Top 10</a:t>
            </a:r>
          </a:p>
        </p:txBody>
      </p:sp>
      <p:sp>
        <p:nvSpPr>
          <p:cNvPr id="9" name="TextBox 8">
            <a:extLst>
              <a:ext uri="{FF2B5EF4-FFF2-40B4-BE49-F238E27FC236}">
                <a16:creationId xmlns:a16="http://schemas.microsoft.com/office/drawing/2014/main" id="{C2A50969-BC44-F5C2-B83A-886D8176FB4D}"/>
              </a:ext>
            </a:extLst>
          </p:cNvPr>
          <p:cNvSpPr txBox="1"/>
          <p:nvPr/>
        </p:nvSpPr>
        <p:spPr>
          <a:xfrm>
            <a:off x="6669563" y="1430833"/>
            <a:ext cx="2943434" cy="769441"/>
          </a:xfrm>
          <a:prstGeom prst="rect">
            <a:avLst/>
          </a:prstGeom>
          <a:noFill/>
        </p:spPr>
        <p:txBody>
          <a:bodyPr wrap="none" rtlCol="0">
            <a:spAutoFit/>
          </a:bodyPr>
          <a:lstStyle/>
          <a:p>
            <a:r>
              <a:rPr lang="en-GB" sz="4400" b="1" dirty="0">
                <a:solidFill>
                  <a:srgbClr val="FFFF00"/>
                </a:solidFill>
              </a:rPr>
              <a:t>Bottom 10</a:t>
            </a:r>
          </a:p>
        </p:txBody>
      </p:sp>
      <p:pic>
        <p:nvPicPr>
          <p:cNvPr id="11" name="Picture 10">
            <a:extLst>
              <a:ext uri="{FF2B5EF4-FFF2-40B4-BE49-F238E27FC236}">
                <a16:creationId xmlns:a16="http://schemas.microsoft.com/office/drawing/2014/main" id="{F345164F-69F9-7CBE-737E-326B65A5F691}"/>
              </a:ext>
            </a:extLst>
          </p:cNvPr>
          <p:cNvPicPr>
            <a:picLocks noChangeAspect="1"/>
          </p:cNvPicPr>
          <p:nvPr/>
        </p:nvPicPr>
        <p:blipFill>
          <a:blip r:embed="rId3"/>
          <a:stretch>
            <a:fillRect/>
          </a:stretch>
        </p:blipFill>
        <p:spPr>
          <a:xfrm>
            <a:off x="6096000" y="2200274"/>
            <a:ext cx="4090561" cy="3864783"/>
          </a:xfrm>
          <a:prstGeom prst="rect">
            <a:avLst/>
          </a:prstGeom>
        </p:spPr>
      </p:pic>
    </p:spTree>
    <p:extLst>
      <p:ext uri="{BB962C8B-B14F-4D97-AF65-F5344CB8AC3E}">
        <p14:creationId xmlns:p14="http://schemas.microsoft.com/office/powerpoint/2010/main" val="345934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36083" y="666593"/>
            <a:ext cx="7781544" cy="859055"/>
          </a:xfrm>
        </p:spPr>
        <p:txBody>
          <a:bodyPr/>
          <a:lstStyle/>
          <a:p>
            <a:r>
              <a:rPr lang="en-US" dirty="0"/>
              <a:t>Dataset Overview</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8" name="Picture 7">
            <a:extLst>
              <a:ext uri="{FF2B5EF4-FFF2-40B4-BE49-F238E27FC236}">
                <a16:creationId xmlns:a16="http://schemas.microsoft.com/office/drawing/2014/main" id="{734F61DA-47D6-D565-89A9-78B024415EF7}"/>
              </a:ext>
            </a:extLst>
          </p:cNvPr>
          <p:cNvPicPr>
            <a:picLocks noChangeAspect="1"/>
          </p:cNvPicPr>
          <p:nvPr/>
        </p:nvPicPr>
        <p:blipFill>
          <a:blip r:embed="rId2"/>
          <a:stretch>
            <a:fillRect/>
          </a:stretch>
        </p:blipFill>
        <p:spPr>
          <a:xfrm>
            <a:off x="0" y="6262083"/>
            <a:ext cx="12192000" cy="590075"/>
          </a:xfrm>
          <a:prstGeom prst="rect">
            <a:avLst/>
          </a:prstGeom>
        </p:spPr>
      </p:pic>
      <p:graphicFrame>
        <p:nvGraphicFramePr>
          <p:cNvPr id="9" name="Table 8">
            <a:extLst>
              <a:ext uri="{FF2B5EF4-FFF2-40B4-BE49-F238E27FC236}">
                <a16:creationId xmlns:a16="http://schemas.microsoft.com/office/drawing/2014/main" id="{3E7AB371-7C83-BDB8-C95E-17B9D92B57D4}"/>
              </a:ext>
            </a:extLst>
          </p:cNvPr>
          <p:cNvGraphicFramePr>
            <a:graphicFrameLocks noGrp="1"/>
          </p:cNvGraphicFramePr>
          <p:nvPr>
            <p:extLst>
              <p:ext uri="{D42A27DB-BD31-4B8C-83A1-F6EECF244321}">
                <p14:modId xmlns:p14="http://schemas.microsoft.com/office/powerpoint/2010/main" val="732305027"/>
              </p:ext>
            </p:extLst>
          </p:nvPr>
        </p:nvGraphicFramePr>
        <p:xfrm>
          <a:off x="836083" y="2195742"/>
          <a:ext cx="10519834" cy="2966720"/>
        </p:xfrm>
        <a:graphic>
          <a:graphicData uri="http://schemas.openxmlformats.org/drawingml/2006/table">
            <a:tbl>
              <a:tblPr firstRow="1" bandRow="1">
                <a:tableStyleId>{5C22544A-7EE6-4342-B048-85BDC9FD1C3A}</a:tableStyleId>
              </a:tblPr>
              <a:tblGrid>
                <a:gridCol w="5259917">
                  <a:extLst>
                    <a:ext uri="{9D8B030D-6E8A-4147-A177-3AD203B41FA5}">
                      <a16:colId xmlns:a16="http://schemas.microsoft.com/office/drawing/2014/main" val="1279498171"/>
                    </a:ext>
                  </a:extLst>
                </a:gridCol>
                <a:gridCol w="5259917">
                  <a:extLst>
                    <a:ext uri="{9D8B030D-6E8A-4147-A177-3AD203B41FA5}">
                      <a16:colId xmlns:a16="http://schemas.microsoft.com/office/drawing/2014/main" val="3117291013"/>
                    </a:ext>
                  </a:extLst>
                </a:gridCol>
              </a:tblGrid>
              <a:tr h="370840">
                <a:tc>
                  <a:txBody>
                    <a:bodyPr/>
                    <a:lstStyle/>
                    <a:p>
                      <a:r>
                        <a:rPr lang="en-GB" sz="1800" kern="1200" dirty="0">
                          <a:solidFill>
                            <a:schemeClr val="dk1"/>
                          </a:solidFill>
                          <a:latin typeface="+mn-lt"/>
                          <a:ea typeface="+mn-ea"/>
                          <a:cs typeface="+mn-cs"/>
                        </a:rPr>
                        <a:t>NUMBER OF COUNTRIES</a:t>
                      </a:r>
                    </a:p>
                  </a:txBody>
                  <a:tcPr/>
                </a:tc>
                <a:tc>
                  <a:txBody>
                    <a:bodyPr/>
                    <a:lstStyle/>
                    <a:p>
                      <a:r>
                        <a:rPr lang="en-GB" dirty="0"/>
                        <a:t>156</a:t>
                      </a:r>
                    </a:p>
                  </a:txBody>
                  <a:tcPr/>
                </a:tc>
                <a:extLst>
                  <a:ext uri="{0D108BD9-81ED-4DB2-BD59-A6C34878D82A}">
                    <a16:rowId xmlns:a16="http://schemas.microsoft.com/office/drawing/2014/main" val="2518032585"/>
                  </a:ext>
                </a:extLst>
              </a:tr>
              <a:tr h="370840">
                <a:tc>
                  <a:txBody>
                    <a:bodyPr/>
                    <a:lstStyle/>
                    <a:p>
                      <a:r>
                        <a:rPr lang="en-GB" sz="1800" kern="1200" dirty="0">
                          <a:solidFill>
                            <a:schemeClr val="dk1"/>
                          </a:solidFill>
                          <a:latin typeface="+mn-lt"/>
                          <a:ea typeface="+mn-ea"/>
                          <a:cs typeface="+mn-cs"/>
                        </a:rPr>
                        <a:t>AVERAGE GLOBAL HAPPINESS SCORE</a:t>
                      </a:r>
                    </a:p>
                  </a:txBody>
                  <a:tcPr/>
                </a:tc>
                <a:tc>
                  <a:txBody>
                    <a:bodyPr/>
                    <a:lstStyle/>
                    <a:p>
                      <a:r>
                        <a:rPr lang="en-GB" dirty="0"/>
                        <a:t>5.41</a:t>
                      </a:r>
                    </a:p>
                  </a:txBody>
                  <a:tcPr/>
                </a:tc>
                <a:extLst>
                  <a:ext uri="{0D108BD9-81ED-4DB2-BD59-A6C34878D82A}">
                    <a16:rowId xmlns:a16="http://schemas.microsoft.com/office/drawing/2014/main" val="2347848103"/>
                  </a:ext>
                </a:extLst>
              </a:tr>
              <a:tr h="370840">
                <a:tc>
                  <a:txBody>
                    <a:bodyPr/>
                    <a:lstStyle/>
                    <a:p>
                      <a:r>
                        <a:rPr lang="en-GB" dirty="0"/>
                        <a:t>AVERAGE GDP PER CAPITA</a:t>
                      </a:r>
                    </a:p>
                  </a:txBody>
                  <a:tcPr/>
                </a:tc>
                <a:tc>
                  <a:txBody>
                    <a:bodyPr/>
                    <a:lstStyle/>
                    <a:p>
                      <a:r>
                        <a:rPr lang="en-GB" dirty="0"/>
                        <a:t>0.91</a:t>
                      </a:r>
                    </a:p>
                  </a:txBody>
                  <a:tcPr/>
                </a:tc>
                <a:extLst>
                  <a:ext uri="{0D108BD9-81ED-4DB2-BD59-A6C34878D82A}">
                    <a16:rowId xmlns:a16="http://schemas.microsoft.com/office/drawing/2014/main" val="1622807005"/>
                  </a:ext>
                </a:extLst>
              </a:tr>
              <a:tr h="370840">
                <a:tc>
                  <a:txBody>
                    <a:bodyPr/>
                    <a:lstStyle/>
                    <a:p>
                      <a:r>
                        <a:rPr lang="en-GB" dirty="0"/>
                        <a:t>AVERAGE SOCIAL SUPPORT</a:t>
                      </a:r>
                    </a:p>
                  </a:txBody>
                  <a:tcPr/>
                </a:tc>
                <a:tc>
                  <a:txBody>
                    <a:bodyPr/>
                    <a:lstStyle/>
                    <a:p>
                      <a:r>
                        <a:rPr lang="en-GB" dirty="0"/>
                        <a:t>1.21</a:t>
                      </a:r>
                    </a:p>
                  </a:txBody>
                  <a:tcPr/>
                </a:tc>
                <a:extLst>
                  <a:ext uri="{0D108BD9-81ED-4DB2-BD59-A6C34878D82A}">
                    <a16:rowId xmlns:a16="http://schemas.microsoft.com/office/drawing/2014/main" val="3084732376"/>
                  </a:ext>
                </a:extLst>
              </a:tr>
              <a:tr h="370840">
                <a:tc>
                  <a:txBody>
                    <a:bodyPr/>
                    <a:lstStyle/>
                    <a:p>
                      <a:r>
                        <a:rPr lang="en-GB" dirty="0"/>
                        <a:t>AVERAGE HEALTH LIFE EXPECTANCY</a:t>
                      </a:r>
                    </a:p>
                  </a:txBody>
                  <a:tcPr/>
                </a:tc>
                <a:tc>
                  <a:txBody>
                    <a:bodyPr/>
                    <a:lstStyle/>
                    <a:p>
                      <a:r>
                        <a:rPr lang="en-GB" dirty="0"/>
                        <a:t>0.73</a:t>
                      </a:r>
                    </a:p>
                  </a:txBody>
                  <a:tcPr/>
                </a:tc>
                <a:extLst>
                  <a:ext uri="{0D108BD9-81ED-4DB2-BD59-A6C34878D82A}">
                    <a16:rowId xmlns:a16="http://schemas.microsoft.com/office/drawing/2014/main" val="3529994269"/>
                  </a:ext>
                </a:extLst>
              </a:tr>
              <a:tr h="370840">
                <a:tc>
                  <a:txBody>
                    <a:bodyPr/>
                    <a:lstStyle/>
                    <a:p>
                      <a:r>
                        <a:rPr lang="en-GB" dirty="0"/>
                        <a:t>AVERAGE FREEDOM TO MAKE LIFE CHOICES</a:t>
                      </a:r>
                    </a:p>
                  </a:txBody>
                  <a:tcPr/>
                </a:tc>
                <a:tc>
                  <a:txBody>
                    <a:bodyPr/>
                    <a:lstStyle/>
                    <a:p>
                      <a:r>
                        <a:rPr lang="en-GB" dirty="0"/>
                        <a:t>0.39</a:t>
                      </a:r>
                    </a:p>
                  </a:txBody>
                  <a:tcPr/>
                </a:tc>
                <a:extLst>
                  <a:ext uri="{0D108BD9-81ED-4DB2-BD59-A6C34878D82A}">
                    <a16:rowId xmlns:a16="http://schemas.microsoft.com/office/drawing/2014/main" val="716113580"/>
                  </a:ext>
                </a:extLst>
              </a:tr>
              <a:tr h="370840">
                <a:tc>
                  <a:txBody>
                    <a:bodyPr/>
                    <a:lstStyle/>
                    <a:p>
                      <a:r>
                        <a:rPr lang="en-GB" dirty="0"/>
                        <a:t>AVERAGE GENEROSITY</a:t>
                      </a:r>
                    </a:p>
                  </a:txBody>
                  <a:tcPr/>
                </a:tc>
                <a:tc>
                  <a:txBody>
                    <a:bodyPr/>
                    <a:lstStyle/>
                    <a:p>
                      <a:r>
                        <a:rPr lang="en-GB" dirty="0"/>
                        <a:t>0.19</a:t>
                      </a:r>
                    </a:p>
                  </a:txBody>
                  <a:tcPr/>
                </a:tc>
                <a:extLst>
                  <a:ext uri="{0D108BD9-81ED-4DB2-BD59-A6C34878D82A}">
                    <a16:rowId xmlns:a16="http://schemas.microsoft.com/office/drawing/2014/main" val="1657518495"/>
                  </a:ext>
                </a:extLst>
              </a:tr>
              <a:tr h="370840">
                <a:tc>
                  <a:txBody>
                    <a:bodyPr/>
                    <a:lstStyle/>
                    <a:p>
                      <a:r>
                        <a:rPr lang="en-GB" dirty="0"/>
                        <a:t>AVERAGE PERCEPTIONS OF CORRUPTION</a:t>
                      </a:r>
                    </a:p>
                  </a:txBody>
                  <a:tcPr/>
                </a:tc>
                <a:tc>
                  <a:txBody>
                    <a:bodyPr/>
                    <a:lstStyle/>
                    <a:p>
                      <a:r>
                        <a:rPr lang="en-GB" dirty="0"/>
                        <a:t>0.11</a:t>
                      </a:r>
                    </a:p>
                  </a:txBody>
                  <a:tcPr/>
                </a:tc>
                <a:extLst>
                  <a:ext uri="{0D108BD9-81ED-4DB2-BD59-A6C34878D82A}">
                    <a16:rowId xmlns:a16="http://schemas.microsoft.com/office/drawing/2014/main" val="1609296079"/>
                  </a:ext>
                </a:extLst>
              </a:tr>
            </a:tbl>
          </a:graphicData>
        </a:graphic>
      </p:graphicFrame>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87941" y="666593"/>
            <a:ext cx="10416117" cy="859055"/>
          </a:xfrm>
        </p:spPr>
        <p:txBody>
          <a:bodyPr>
            <a:normAutofit/>
          </a:bodyPr>
          <a:lstStyle/>
          <a:p>
            <a:r>
              <a:rPr lang="en-US" dirty="0"/>
              <a:t>Average Global Happiness Score</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8" name="Picture 7">
            <a:extLst>
              <a:ext uri="{FF2B5EF4-FFF2-40B4-BE49-F238E27FC236}">
                <a16:creationId xmlns:a16="http://schemas.microsoft.com/office/drawing/2014/main" id="{734F61DA-47D6-D565-89A9-78B024415EF7}"/>
              </a:ext>
            </a:extLst>
          </p:cNvPr>
          <p:cNvPicPr>
            <a:picLocks noChangeAspect="1"/>
          </p:cNvPicPr>
          <p:nvPr/>
        </p:nvPicPr>
        <p:blipFill>
          <a:blip r:embed="rId2"/>
          <a:stretch>
            <a:fillRect/>
          </a:stretch>
        </p:blipFill>
        <p:spPr>
          <a:xfrm>
            <a:off x="0" y="6262083"/>
            <a:ext cx="12192000" cy="590075"/>
          </a:xfrm>
          <a:prstGeom prst="rect">
            <a:avLst/>
          </a:prstGeom>
        </p:spPr>
      </p:pic>
      <p:graphicFrame>
        <p:nvGraphicFramePr>
          <p:cNvPr id="9" name="Table 8">
            <a:extLst>
              <a:ext uri="{FF2B5EF4-FFF2-40B4-BE49-F238E27FC236}">
                <a16:creationId xmlns:a16="http://schemas.microsoft.com/office/drawing/2014/main" id="{3E7AB371-7C83-BDB8-C95E-17B9D92B57D4}"/>
              </a:ext>
            </a:extLst>
          </p:cNvPr>
          <p:cNvGraphicFramePr>
            <a:graphicFrameLocks noGrp="1"/>
          </p:cNvGraphicFramePr>
          <p:nvPr>
            <p:extLst>
              <p:ext uri="{D42A27DB-BD31-4B8C-83A1-F6EECF244321}">
                <p14:modId xmlns:p14="http://schemas.microsoft.com/office/powerpoint/2010/main" val="3168695373"/>
              </p:ext>
            </p:extLst>
          </p:nvPr>
        </p:nvGraphicFramePr>
        <p:xfrm>
          <a:off x="836083" y="2195742"/>
          <a:ext cx="10519834" cy="2966720"/>
        </p:xfrm>
        <a:graphic>
          <a:graphicData uri="http://schemas.openxmlformats.org/drawingml/2006/table">
            <a:tbl>
              <a:tblPr firstRow="1" bandRow="1">
                <a:tableStyleId>{5C22544A-7EE6-4342-B048-85BDC9FD1C3A}</a:tableStyleId>
              </a:tblPr>
              <a:tblGrid>
                <a:gridCol w="5259917">
                  <a:extLst>
                    <a:ext uri="{9D8B030D-6E8A-4147-A177-3AD203B41FA5}">
                      <a16:colId xmlns:a16="http://schemas.microsoft.com/office/drawing/2014/main" val="1279498171"/>
                    </a:ext>
                  </a:extLst>
                </a:gridCol>
                <a:gridCol w="5259917">
                  <a:extLst>
                    <a:ext uri="{9D8B030D-6E8A-4147-A177-3AD203B41FA5}">
                      <a16:colId xmlns:a16="http://schemas.microsoft.com/office/drawing/2014/main" val="3117291013"/>
                    </a:ext>
                  </a:extLst>
                </a:gridCol>
              </a:tblGrid>
              <a:tr h="370840">
                <a:tc>
                  <a:txBody>
                    <a:bodyPr/>
                    <a:lstStyle/>
                    <a:p>
                      <a:r>
                        <a:rPr lang="en-GB" sz="1800" kern="1200" dirty="0">
                          <a:solidFill>
                            <a:schemeClr val="dk1"/>
                          </a:solidFill>
                          <a:latin typeface="+mn-lt"/>
                          <a:ea typeface="+mn-ea"/>
                          <a:cs typeface="+mn-cs"/>
                        </a:rPr>
                        <a:t>NUMBER OF COUNTRIES</a:t>
                      </a:r>
                    </a:p>
                  </a:txBody>
                  <a:tcPr/>
                </a:tc>
                <a:tc>
                  <a:txBody>
                    <a:bodyPr/>
                    <a:lstStyle/>
                    <a:p>
                      <a:r>
                        <a:rPr lang="en-GB" dirty="0"/>
                        <a:t>156</a:t>
                      </a:r>
                    </a:p>
                  </a:txBody>
                  <a:tcPr/>
                </a:tc>
                <a:extLst>
                  <a:ext uri="{0D108BD9-81ED-4DB2-BD59-A6C34878D82A}">
                    <a16:rowId xmlns:a16="http://schemas.microsoft.com/office/drawing/2014/main" val="2518032585"/>
                  </a:ext>
                </a:extLst>
              </a:tr>
              <a:tr h="370840">
                <a:tc>
                  <a:txBody>
                    <a:bodyPr/>
                    <a:lstStyle/>
                    <a:p>
                      <a:r>
                        <a:rPr lang="en-GB" sz="1800" kern="1200" dirty="0">
                          <a:solidFill>
                            <a:schemeClr val="dk1"/>
                          </a:solidFill>
                          <a:latin typeface="+mn-lt"/>
                          <a:ea typeface="+mn-ea"/>
                          <a:cs typeface="+mn-cs"/>
                        </a:rPr>
                        <a:t>AVERAGE GLOBAL HAPPINESS SCORE</a:t>
                      </a:r>
                    </a:p>
                  </a:txBody>
                  <a:tcPr>
                    <a:solidFill>
                      <a:srgbClr val="FFFF00"/>
                    </a:solidFill>
                  </a:tcPr>
                </a:tc>
                <a:tc>
                  <a:txBody>
                    <a:bodyPr/>
                    <a:lstStyle/>
                    <a:p>
                      <a:r>
                        <a:rPr lang="en-GB" dirty="0"/>
                        <a:t>5.41</a:t>
                      </a:r>
                    </a:p>
                  </a:txBody>
                  <a:tcPr>
                    <a:solidFill>
                      <a:srgbClr val="FFFF00"/>
                    </a:solidFill>
                  </a:tcPr>
                </a:tc>
                <a:extLst>
                  <a:ext uri="{0D108BD9-81ED-4DB2-BD59-A6C34878D82A}">
                    <a16:rowId xmlns:a16="http://schemas.microsoft.com/office/drawing/2014/main" val="2347848103"/>
                  </a:ext>
                </a:extLst>
              </a:tr>
              <a:tr h="370840">
                <a:tc>
                  <a:txBody>
                    <a:bodyPr/>
                    <a:lstStyle/>
                    <a:p>
                      <a:r>
                        <a:rPr lang="en-GB" dirty="0"/>
                        <a:t>AVERAGE GDP PER CAPITA</a:t>
                      </a:r>
                    </a:p>
                  </a:txBody>
                  <a:tcPr/>
                </a:tc>
                <a:tc>
                  <a:txBody>
                    <a:bodyPr/>
                    <a:lstStyle/>
                    <a:p>
                      <a:r>
                        <a:rPr lang="en-GB" dirty="0"/>
                        <a:t>0.91</a:t>
                      </a:r>
                    </a:p>
                  </a:txBody>
                  <a:tcPr/>
                </a:tc>
                <a:extLst>
                  <a:ext uri="{0D108BD9-81ED-4DB2-BD59-A6C34878D82A}">
                    <a16:rowId xmlns:a16="http://schemas.microsoft.com/office/drawing/2014/main" val="1622807005"/>
                  </a:ext>
                </a:extLst>
              </a:tr>
              <a:tr h="370840">
                <a:tc>
                  <a:txBody>
                    <a:bodyPr/>
                    <a:lstStyle/>
                    <a:p>
                      <a:r>
                        <a:rPr lang="en-GB" dirty="0"/>
                        <a:t>AVERAGE SOCIAL SUPPORT</a:t>
                      </a:r>
                    </a:p>
                  </a:txBody>
                  <a:tcPr/>
                </a:tc>
                <a:tc>
                  <a:txBody>
                    <a:bodyPr/>
                    <a:lstStyle/>
                    <a:p>
                      <a:r>
                        <a:rPr lang="en-GB" dirty="0"/>
                        <a:t>1.21</a:t>
                      </a:r>
                    </a:p>
                  </a:txBody>
                  <a:tcPr/>
                </a:tc>
                <a:extLst>
                  <a:ext uri="{0D108BD9-81ED-4DB2-BD59-A6C34878D82A}">
                    <a16:rowId xmlns:a16="http://schemas.microsoft.com/office/drawing/2014/main" val="3084732376"/>
                  </a:ext>
                </a:extLst>
              </a:tr>
              <a:tr h="370840">
                <a:tc>
                  <a:txBody>
                    <a:bodyPr/>
                    <a:lstStyle/>
                    <a:p>
                      <a:r>
                        <a:rPr lang="en-GB" dirty="0"/>
                        <a:t>AVERAGE HEALTH LIFE EXPECTANCY</a:t>
                      </a:r>
                    </a:p>
                  </a:txBody>
                  <a:tcPr/>
                </a:tc>
                <a:tc>
                  <a:txBody>
                    <a:bodyPr/>
                    <a:lstStyle/>
                    <a:p>
                      <a:r>
                        <a:rPr lang="en-GB" dirty="0"/>
                        <a:t>0.73</a:t>
                      </a:r>
                    </a:p>
                  </a:txBody>
                  <a:tcPr/>
                </a:tc>
                <a:extLst>
                  <a:ext uri="{0D108BD9-81ED-4DB2-BD59-A6C34878D82A}">
                    <a16:rowId xmlns:a16="http://schemas.microsoft.com/office/drawing/2014/main" val="3529994269"/>
                  </a:ext>
                </a:extLst>
              </a:tr>
              <a:tr h="370840">
                <a:tc>
                  <a:txBody>
                    <a:bodyPr/>
                    <a:lstStyle/>
                    <a:p>
                      <a:r>
                        <a:rPr lang="en-GB" dirty="0"/>
                        <a:t>AVERAGE FREEDOM TO MAKE LIFE CHOICES</a:t>
                      </a:r>
                    </a:p>
                  </a:txBody>
                  <a:tcPr/>
                </a:tc>
                <a:tc>
                  <a:txBody>
                    <a:bodyPr/>
                    <a:lstStyle/>
                    <a:p>
                      <a:r>
                        <a:rPr lang="en-GB" dirty="0"/>
                        <a:t>0.39</a:t>
                      </a:r>
                    </a:p>
                  </a:txBody>
                  <a:tcPr/>
                </a:tc>
                <a:extLst>
                  <a:ext uri="{0D108BD9-81ED-4DB2-BD59-A6C34878D82A}">
                    <a16:rowId xmlns:a16="http://schemas.microsoft.com/office/drawing/2014/main" val="716113580"/>
                  </a:ext>
                </a:extLst>
              </a:tr>
              <a:tr h="370840">
                <a:tc>
                  <a:txBody>
                    <a:bodyPr/>
                    <a:lstStyle/>
                    <a:p>
                      <a:r>
                        <a:rPr lang="en-GB" dirty="0"/>
                        <a:t>AVERAGE GENEROSITY</a:t>
                      </a:r>
                    </a:p>
                  </a:txBody>
                  <a:tcPr/>
                </a:tc>
                <a:tc>
                  <a:txBody>
                    <a:bodyPr/>
                    <a:lstStyle/>
                    <a:p>
                      <a:r>
                        <a:rPr lang="en-GB" dirty="0"/>
                        <a:t>0.19</a:t>
                      </a:r>
                    </a:p>
                  </a:txBody>
                  <a:tcPr/>
                </a:tc>
                <a:extLst>
                  <a:ext uri="{0D108BD9-81ED-4DB2-BD59-A6C34878D82A}">
                    <a16:rowId xmlns:a16="http://schemas.microsoft.com/office/drawing/2014/main" val="1657518495"/>
                  </a:ext>
                </a:extLst>
              </a:tr>
              <a:tr h="370840">
                <a:tc>
                  <a:txBody>
                    <a:bodyPr/>
                    <a:lstStyle/>
                    <a:p>
                      <a:r>
                        <a:rPr lang="en-GB" dirty="0"/>
                        <a:t>AVERAGE PERCEPTIONS OF CORRUPTION</a:t>
                      </a:r>
                    </a:p>
                  </a:txBody>
                  <a:tcPr/>
                </a:tc>
                <a:tc>
                  <a:txBody>
                    <a:bodyPr/>
                    <a:lstStyle/>
                    <a:p>
                      <a:r>
                        <a:rPr lang="en-GB" dirty="0"/>
                        <a:t>0.11</a:t>
                      </a:r>
                    </a:p>
                  </a:txBody>
                  <a:tcPr/>
                </a:tc>
                <a:extLst>
                  <a:ext uri="{0D108BD9-81ED-4DB2-BD59-A6C34878D82A}">
                    <a16:rowId xmlns:a16="http://schemas.microsoft.com/office/drawing/2014/main" val="1609296079"/>
                  </a:ext>
                </a:extLst>
              </a:tr>
            </a:tbl>
          </a:graphicData>
        </a:graphic>
      </p:graphicFrame>
    </p:spTree>
    <p:extLst>
      <p:ext uri="{BB962C8B-B14F-4D97-AF65-F5344CB8AC3E}">
        <p14:creationId xmlns:p14="http://schemas.microsoft.com/office/powerpoint/2010/main" val="3487569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6</a:t>
            </a:fld>
            <a:endParaRPr lang="en-US" dirty="0"/>
          </a:p>
        </p:txBody>
      </p:sp>
      <p:graphicFrame>
        <p:nvGraphicFramePr>
          <p:cNvPr id="8" name="Chart 7">
            <a:extLst>
              <a:ext uri="{FF2B5EF4-FFF2-40B4-BE49-F238E27FC236}">
                <a16:creationId xmlns:a16="http://schemas.microsoft.com/office/drawing/2014/main" id="{CA7E3852-69B4-D47D-2395-0AB4E3ACA2BB}"/>
              </a:ext>
            </a:extLst>
          </p:cNvPr>
          <p:cNvGraphicFramePr/>
          <p:nvPr>
            <p:extLst>
              <p:ext uri="{D42A27DB-BD31-4B8C-83A1-F6EECF244321}">
                <p14:modId xmlns:p14="http://schemas.microsoft.com/office/powerpoint/2010/main" val="938811685"/>
              </p:ext>
            </p:extLst>
          </p:nvPr>
        </p:nvGraphicFramePr>
        <p:xfrm>
          <a:off x="350983" y="461818"/>
          <a:ext cx="7231304" cy="621838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315191" y="374179"/>
            <a:ext cx="11214100" cy="646331"/>
          </a:xfrm>
        </p:spPr>
        <p:txBody>
          <a:bodyPr/>
          <a:lstStyle/>
          <a:p>
            <a:r>
              <a:rPr lang="en-GB" sz="4000" dirty="0"/>
              <a:t>Top 5 countries with the highest social support</a:t>
            </a:r>
            <a:endParaRPr lang="en-US" sz="4000"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graphicFrame>
        <p:nvGraphicFramePr>
          <p:cNvPr id="18" name="Chart 17">
            <a:extLst>
              <a:ext uri="{FF2B5EF4-FFF2-40B4-BE49-F238E27FC236}">
                <a16:creationId xmlns:a16="http://schemas.microsoft.com/office/drawing/2014/main" id="{B620DADF-7EDE-9DEC-1153-94AD90468EB7}"/>
              </a:ext>
            </a:extLst>
          </p:cNvPr>
          <p:cNvGraphicFramePr/>
          <p:nvPr>
            <p:extLst>
              <p:ext uri="{D42A27DB-BD31-4B8C-83A1-F6EECF244321}">
                <p14:modId xmlns:p14="http://schemas.microsoft.com/office/powerpoint/2010/main" val="3835660820"/>
              </p:ext>
            </p:extLst>
          </p:nvPr>
        </p:nvGraphicFramePr>
        <p:xfrm>
          <a:off x="2032000" y="1330036"/>
          <a:ext cx="8128000" cy="48306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241300" y="177800"/>
            <a:ext cx="11214100" cy="1200329"/>
          </a:xfrm>
        </p:spPr>
        <p:txBody>
          <a:bodyPr/>
          <a:lstStyle/>
          <a:p>
            <a:r>
              <a:rPr lang="en-GB" sz="4000" dirty="0"/>
              <a:t>Top 5 countries ranked by healthy life expectancy</a:t>
            </a:r>
            <a:endParaRPr lang="en-US" sz="4000"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8</a:t>
            </a:fld>
            <a:endParaRPr lang="en-US" dirty="0"/>
          </a:p>
        </p:txBody>
      </p:sp>
      <p:graphicFrame>
        <p:nvGraphicFramePr>
          <p:cNvPr id="18" name="Chart 17">
            <a:extLst>
              <a:ext uri="{FF2B5EF4-FFF2-40B4-BE49-F238E27FC236}">
                <a16:creationId xmlns:a16="http://schemas.microsoft.com/office/drawing/2014/main" id="{B620DADF-7EDE-9DEC-1153-94AD90468EB7}"/>
              </a:ext>
            </a:extLst>
          </p:cNvPr>
          <p:cNvGraphicFramePr/>
          <p:nvPr>
            <p:extLst>
              <p:ext uri="{D42A27DB-BD31-4B8C-83A1-F6EECF244321}">
                <p14:modId xmlns:p14="http://schemas.microsoft.com/office/powerpoint/2010/main" val="3287237678"/>
              </p:ext>
            </p:extLst>
          </p:nvPr>
        </p:nvGraphicFramePr>
        <p:xfrm>
          <a:off x="2032000" y="1330036"/>
          <a:ext cx="8128000" cy="48306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03417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241300" y="177800"/>
            <a:ext cx="11214100" cy="1200329"/>
          </a:xfrm>
        </p:spPr>
        <p:txBody>
          <a:bodyPr/>
          <a:lstStyle/>
          <a:p>
            <a:r>
              <a:rPr lang="en-GB" sz="4000" dirty="0"/>
              <a:t>15 lowest corruption perception countries vs happiness scores</a:t>
            </a:r>
            <a:endParaRPr lang="en-US" sz="4000"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9</a:t>
            </a:fld>
            <a:endParaRPr lang="en-US" dirty="0"/>
          </a:p>
        </p:txBody>
      </p:sp>
      <p:graphicFrame>
        <p:nvGraphicFramePr>
          <p:cNvPr id="6" name="Chart 5">
            <a:extLst>
              <a:ext uri="{FF2B5EF4-FFF2-40B4-BE49-F238E27FC236}">
                <a16:creationId xmlns:a16="http://schemas.microsoft.com/office/drawing/2014/main" id="{EDE0975C-ED39-7713-0368-4060925782C5}"/>
              </a:ext>
            </a:extLst>
          </p:cNvPr>
          <p:cNvGraphicFramePr/>
          <p:nvPr>
            <p:extLst>
              <p:ext uri="{D42A27DB-BD31-4B8C-83A1-F6EECF244321}">
                <p14:modId xmlns:p14="http://schemas.microsoft.com/office/powerpoint/2010/main" val="329669595"/>
              </p:ext>
            </p:extLst>
          </p:nvPr>
        </p:nvGraphicFramePr>
        <p:xfrm>
          <a:off x="241300" y="1378129"/>
          <a:ext cx="8128000" cy="4936946"/>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71896EC0-1197-445B-41CC-6E733BF8E3E1}"/>
              </a:ext>
            </a:extLst>
          </p:cNvPr>
          <p:cNvSpPr txBox="1"/>
          <p:nvPr/>
        </p:nvSpPr>
        <p:spPr>
          <a:xfrm>
            <a:off x="8369300" y="2064368"/>
            <a:ext cx="3556000" cy="2862322"/>
          </a:xfrm>
          <a:prstGeom prst="rect">
            <a:avLst/>
          </a:prstGeom>
          <a:noFill/>
        </p:spPr>
        <p:txBody>
          <a:bodyPr wrap="square" rtlCol="0">
            <a:spAutoFit/>
          </a:bodyPr>
          <a:lstStyle/>
          <a:p>
            <a:r>
              <a:rPr lang="en-GB" b="1" dirty="0">
                <a:solidFill>
                  <a:schemeClr val="bg1"/>
                </a:solidFill>
              </a:rPr>
              <a:t>	</a:t>
            </a:r>
            <a:r>
              <a:rPr lang="en-GB" b="1" u="sng" dirty="0">
                <a:solidFill>
                  <a:schemeClr val="bg1"/>
                </a:solidFill>
              </a:rPr>
              <a:t>Key Insights:</a:t>
            </a:r>
          </a:p>
          <a:p>
            <a:endParaRPr lang="en-GB" b="1" u="sng" dirty="0">
              <a:solidFill>
                <a:schemeClr val="bg1"/>
              </a:solidFill>
            </a:endParaRPr>
          </a:p>
          <a:p>
            <a:pPr marL="285750" indent="-285750">
              <a:buFont typeface="Arial" panose="020B0604020202020204" pitchFamily="34" charset="0"/>
              <a:buChar char="•"/>
            </a:pPr>
            <a:r>
              <a:rPr lang="en-GB" sz="1200" dirty="0">
                <a:solidFill>
                  <a:schemeClr val="bg1"/>
                </a:solidFill>
              </a:rPr>
              <a:t>Most of the higher happiness scores (7–7.77) are concentrated where corruption perception is between roughly 0.28 and 0.40</a:t>
            </a:r>
          </a:p>
          <a:p>
            <a:pPr marL="285750" indent="-285750">
              <a:buFont typeface="Arial" panose="020B0604020202020204" pitchFamily="34" charset="0"/>
              <a:buChar char="•"/>
            </a:pPr>
            <a:endParaRPr lang="en-GB" sz="1200" dirty="0">
              <a:solidFill>
                <a:schemeClr val="bg1"/>
              </a:solidFill>
            </a:endParaRPr>
          </a:p>
          <a:p>
            <a:pPr marL="285750" indent="-285750">
              <a:buFont typeface="Arial" panose="020B0604020202020204" pitchFamily="34" charset="0"/>
              <a:buChar char="•"/>
            </a:pPr>
            <a:r>
              <a:rPr lang="en-GB" sz="1200" dirty="0">
                <a:solidFill>
                  <a:schemeClr val="bg1"/>
                </a:solidFill>
              </a:rPr>
              <a:t>This suggests countries with lower perceived corruption tend to report higher happiness</a:t>
            </a:r>
          </a:p>
          <a:p>
            <a:pPr marL="285750" indent="-285750">
              <a:buFont typeface="Arial" panose="020B0604020202020204" pitchFamily="34" charset="0"/>
              <a:buChar char="•"/>
            </a:pPr>
            <a:endParaRPr lang="en-GB" sz="1200" dirty="0">
              <a:solidFill>
                <a:schemeClr val="bg1"/>
              </a:solidFill>
            </a:endParaRPr>
          </a:p>
          <a:p>
            <a:pPr marL="285750" indent="-285750">
              <a:buFont typeface="Arial" panose="020B0604020202020204" pitchFamily="34" charset="0"/>
              <a:buChar char="•"/>
            </a:pPr>
            <a:r>
              <a:rPr lang="en-GB" sz="1200" dirty="0">
                <a:solidFill>
                  <a:schemeClr val="bg1"/>
                </a:solidFill>
              </a:rPr>
              <a:t>There is an outlier at corruption perception (0.41) with a very low happiness score (3.33) </a:t>
            </a:r>
          </a:p>
          <a:p>
            <a:pPr marL="285750" indent="-285750">
              <a:buFont typeface="Arial" panose="020B0604020202020204" pitchFamily="34" charset="0"/>
              <a:buChar char="•"/>
            </a:pPr>
            <a:endParaRPr lang="en-GB" sz="1200" dirty="0">
              <a:solidFill>
                <a:schemeClr val="bg1"/>
              </a:solidFill>
            </a:endParaRPr>
          </a:p>
          <a:p>
            <a:pPr marL="285750" indent="-285750">
              <a:buFont typeface="Arial" panose="020B0604020202020204" pitchFamily="34" charset="0"/>
              <a:buChar char="•"/>
            </a:pPr>
            <a:r>
              <a:rPr lang="en-GB" sz="1200" dirty="0">
                <a:solidFill>
                  <a:schemeClr val="bg1"/>
                </a:solidFill>
              </a:rPr>
              <a:t>This point significantly deviates from the overall pattern</a:t>
            </a:r>
          </a:p>
        </p:txBody>
      </p:sp>
    </p:spTree>
    <p:extLst>
      <p:ext uri="{BB962C8B-B14F-4D97-AF65-F5344CB8AC3E}">
        <p14:creationId xmlns:p14="http://schemas.microsoft.com/office/powerpoint/2010/main" val="3744823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241300" y="177800"/>
            <a:ext cx="11214100" cy="1200329"/>
          </a:xfrm>
        </p:spPr>
        <p:txBody>
          <a:bodyPr/>
          <a:lstStyle/>
          <a:p>
            <a:r>
              <a:rPr lang="en-GB" sz="4000" dirty="0"/>
              <a:t>Generosity vs happiness correlation (above vs below average generosity)</a:t>
            </a:r>
            <a:endParaRPr lang="en-US" sz="4000"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10</a:t>
            </a:fld>
            <a:endParaRPr lang="en-US" dirty="0"/>
          </a:p>
        </p:txBody>
      </p:sp>
      <p:graphicFrame>
        <p:nvGraphicFramePr>
          <p:cNvPr id="7" name="Chart 6">
            <a:extLst>
              <a:ext uri="{FF2B5EF4-FFF2-40B4-BE49-F238E27FC236}">
                <a16:creationId xmlns:a16="http://schemas.microsoft.com/office/drawing/2014/main" id="{29CEBEA1-23B9-B2D7-7CE1-F6F9837099C5}"/>
              </a:ext>
            </a:extLst>
          </p:cNvPr>
          <p:cNvGraphicFramePr/>
          <p:nvPr>
            <p:extLst>
              <p:ext uri="{D42A27DB-BD31-4B8C-83A1-F6EECF244321}">
                <p14:modId xmlns:p14="http://schemas.microsoft.com/office/powerpoint/2010/main" val="236508309"/>
              </p:ext>
            </p:extLst>
          </p:nvPr>
        </p:nvGraphicFramePr>
        <p:xfrm>
          <a:off x="485293" y="1451504"/>
          <a:ext cx="6917267" cy="4790196"/>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63509BD-2270-ED2C-DDA0-CCFAE7A9CF74}"/>
              </a:ext>
            </a:extLst>
          </p:cNvPr>
          <p:cNvSpPr txBox="1"/>
          <p:nvPr/>
        </p:nvSpPr>
        <p:spPr>
          <a:xfrm>
            <a:off x="7696200" y="1997839"/>
            <a:ext cx="3556000" cy="3416320"/>
          </a:xfrm>
          <a:prstGeom prst="rect">
            <a:avLst/>
          </a:prstGeom>
          <a:noFill/>
        </p:spPr>
        <p:txBody>
          <a:bodyPr wrap="square" rtlCol="0">
            <a:spAutoFit/>
          </a:bodyPr>
          <a:lstStyle/>
          <a:p>
            <a:r>
              <a:rPr lang="en-GB" b="1" dirty="0">
                <a:solidFill>
                  <a:schemeClr val="bg1"/>
                </a:solidFill>
              </a:rPr>
              <a:t>	</a:t>
            </a:r>
            <a:r>
              <a:rPr lang="en-GB" b="1" u="sng" dirty="0">
                <a:solidFill>
                  <a:schemeClr val="bg1"/>
                </a:solidFill>
              </a:rPr>
              <a:t>Key Insights:</a:t>
            </a:r>
          </a:p>
          <a:p>
            <a:endParaRPr lang="en-GB" b="1" u="sng" dirty="0">
              <a:solidFill>
                <a:schemeClr val="bg1"/>
              </a:solidFill>
            </a:endParaRPr>
          </a:p>
          <a:p>
            <a:pPr marL="285750" indent="-285750">
              <a:buFont typeface="Arial" panose="020B0604020202020204" pitchFamily="34" charset="0"/>
              <a:buChar char="•"/>
            </a:pPr>
            <a:r>
              <a:rPr lang="en-GB" sz="1200" dirty="0">
                <a:solidFill>
                  <a:schemeClr val="bg1"/>
                </a:solidFill>
              </a:rPr>
              <a:t>The difference of generosity (0.01) is minimal, suggesting generosity levels are relatively similar regardless of whether happiness is above or below average</a:t>
            </a:r>
          </a:p>
          <a:p>
            <a:pPr marL="285750" indent="-285750">
              <a:buFont typeface="Arial" panose="020B0604020202020204" pitchFamily="34" charset="0"/>
              <a:buChar char="•"/>
            </a:pPr>
            <a:endParaRPr lang="en-GB" sz="1200" dirty="0">
              <a:solidFill>
                <a:schemeClr val="bg1"/>
              </a:solidFill>
            </a:endParaRPr>
          </a:p>
          <a:p>
            <a:pPr marL="285750" indent="-285750">
              <a:buFont typeface="Arial" panose="020B0604020202020204" pitchFamily="34" charset="0"/>
              <a:buChar char="•"/>
            </a:pPr>
            <a:r>
              <a:rPr lang="en-GB" sz="1200" dirty="0">
                <a:solidFill>
                  <a:schemeClr val="bg1"/>
                </a:solidFill>
              </a:rPr>
              <a:t>Since the below average happiness group shows slightly higher generosity, this indicates generosity may not be a strong predictor of overall happiness</a:t>
            </a:r>
          </a:p>
          <a:p>
            <a:pPr marL="285750" indent="-285750">
              <a:buFont typeface="Arial" panose="020B0604020202020204" pitchFamily="34" charset="0"/>
              <a:buChar char="•"/>
            </a:pPr>
            <a:endParaRPr lang="en-GB" sz="1200" dirty="0">
              <a:solidFill>
                <a:schemeClr val="bg1"/>
              </a:solidFill>
            </a:endParaRPr>
          </a:p>
          <a:p>
            <a:pPr marL="285750" indent="-285750">
              <a:buFont typeface="Arial" panose="020B0604020202020204" pitchFamily="34" charset="0"/>
              <a:buChar char="•"/>
            </a:pPr>
            <a:r>
              <a:rPr lang="en-GB" sz="1200" dirty="0">
                <a:solidFill>
                  <a:schemeClr val="bg1"/>
                </a:solidFill>
              </a:rPr>
              <a:t>Due to the small gap between the two groups, other variables such as income, social support, health, or corruption perception may play a larger role in determining happiness scores</a:t>
            </a:r>
          </a:p>
        </p:txBody>
      </p:sp>
    </p:spTree>
    <p:extLst>
      <p:ext uri="{BB962C8B-B14F-4D97-AF65-F5344CB8AC3E}">
        <p14:creationId xmlns:p14="http://schemas.microsoft.com/office/powerpoint/2010/main" val="695653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241300" y="177800"/>
            <a:ext cx="11214100" cy="1200329"/>
          </a:xfrm>
        </p:spPr>
        <p:txBody>
          <a:bodyPr/>
          <a:lstStyle/>
          <a:p>
            <a:r>
              <a:rPr lang="en-GB" sz="4000" dirty="0"/>
              <a:t>Countries with the largest difference between GDP rank and happiness rank</a:t>
            </a:r>
            <a:endParaRPr lang="en-US" sz="4000"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11</a:t>
            </a:fld>
            <a:endParaRPr lang="en-US" dirty="0"/>
          </a:p>
        </p:txBody>
      </p:sp>
      <p:graphicFrame>
        <p:nvGraphicFramePr>
          <p:cNvPr id="9" name="Table 8">
            <a:extLst>
              <a:ext uri="{FF2B5EF4-FFF2-40B4-BE49-F238E27FC236}">
                <a16:creationId xmlns:a16="http://schemas.microsoft.com/office/drawing/2014/main" id="{678D573B-58DE-2B0F-9A36-6D77AEBA97DE}"/>
              </a:ext>
            </a:extLst>
          </p:cNvPr>
          <p:cNvGraphicFramePr>
            <a:graphicFrameLocks noGrp="1"/>
          </p:cNvGraphicFramePr>
          <p:nvPr>
            <p:extLst>
              <p:ext uri="{D42A27DB-BD31-4B8C-83A1-F6EECF244321}">
                <p14:modId xmlns:p14="http://schemas.microsoft.com/office/powerpoint/2010/main" val="3179307060"/>
              </p:ext>
            </p:extLst>
          </p:nvPr>
        </p:nvGraphicFramePr>
        <p:xfrm>
          <a:off x="241300" y="1378129"/>
          <a:ext cx="6658725" cy="4810234"/>
        </p:xfrm>
        <a:graphic>
          <a:graphicData uri="http://schemas.openxmlformats.org/drawingml/2006/table">
            <a:tbl>
              <a:tblPr firstRow="1" bandRow="1">
                <a:tableStyleId>{5C22544A-7EE6-4342-B048-85BDC9FD1C3A}</a:tableStyleId>
              </a:tblPr>
              <a:tblGrid>
                <a:gridCol w="1386339">
                  <a:extLst>
                    <a:ext uri="{9D8B030D-6E8A-4147-A177-3AD203B41FA5}">
                      <a16:colId xmlns:a16="http://schemas.microsoft.com/office/drawing/2014/main" val="3920224323"/>
                    </a:ext>
                  </a:extLst>
                </a:gridCol>
                <a:gridCol w="1974543">
                  <a:extLst>
                    <a:ext uri="{9D8B030D-6E8A-4147-A177-3AD203B41FA5}">
                      <a16:colId xmlns:a16="http://schemas.microsoft.com/office/drawing/2014/main" val="642767022"/>
                    </a:ext>
                  </a:extLst>
                </a:gridCol>
                <a:gridCol w="1311563">
                  <a:extLst>
                    <a:ext uri="{9D8B030D-6E8A-4147-A177-3AD203B41FA5}">
                      <a16:colId xmlns:a16="http://schemas.microsoft.com/office/drawing/2014/main" val="1630701342"/>
                    </a:ext>
                  </a:extLst>
                </a:gridCol>
                <a:gridCol w="1986280">
                  <a:extLst>
                    <a:ext uri="{9D8B030D-6E8A-4147-A177-3AD203B41FA5}">
                      <a16:colId xmlns:a16="http://schemas.microsoft.com/office/drawing/2014/main" val="2026137443"/>
                    </a:ext>
                  </a:extLst>
                </a:gridCol>
              </a:tblGrid>
              <a:tr h="370018">
                <a:tc>
                  <a:txBody>
                    <a:bodyPr/>
                    <a:lstStyle/>
                    <a:p>
                      <a:r>
                        <a:rPr lang="en-GB" dirty="0"/>
                        <a:t>Country</a:t>
                      </a:r>
                    </a:p>
                  </a:txBody>
                  <a:tcPr/>
                </a:tc>
                <a:tc>
                  <a:txBody>
                    <a:bodyPr/>
                    <a:lstStyle/>
                    <a:p>
                      <a:r>
                        <a:rPr lang="en-GB" dirty="0"/>
                        <a:t>Happiness Rank</a:t>
                      </a:r>
                    </a:p>
                  </a:txBody>
                  <a:tcPr/>
                </a:tc>
                <a:tc>
                  <a:txBody>
                    <a:bodyPr/>
                    <a:lstStyle/>
                    <a:p>
                      <a:r>
                        <a:rPr lang="en-GB" dirty="0"/>
                        <a:t>GDP Rank</a:t>
                      </a:r>
                    </a:p>
                  </a:txBody>
                  <a:tcPr/>
                </a:tc>
                <a:tc>
                  <a:txBody>
                    <a:bodyPr/>
                    <a:lstStyle/>
                    <a:p>
                      <a:r>
                        <a:rPr lang="en-GB" dirty="0"/>
                        <a:t>Rank Difference</a:t>
                      </a:r>
                    </a:p>
                  </a:txBody>
                  <a:tcPr/>
                </a:tc>
                <a:extLst>
                  <a:ext uri="{0D108BD9-81ED-4DB2-BD59-A6C34878D82A}">
                    <a16:rowId xmlns:a16="http://schemas.microsoft.com/office/drawing/2014/main" val="3453791161"/>
                  </a:ext>
                </a:extLst>
              </a:tr>
              <a:tr h="370018">
                <a:tc>
                  <a:txBody>
                    <a:bodyPr/>
                    <a:lstStyle/>
                    <a:p>
                      <a:r>
                        <a:rPr lang="en-GB" dirty="0"/>
                        <a:t>Botswana</a:t>
                      </a:r>
                    </a:p>
                  </a:txBody>
                  <a:tcPr/>
                </a:tc>
                <a:tc>
                  <a:txBody>
                    <a:bodyPr/>
                    <a:lstStyle/>
                    <a:p>
                      <a:r>
                        <a:rPr lang="en-GB" dirty="0"/>
                        <a:t>148</a:t>
                      </a:r>
                    </a:p>
                  </a:txBody>
                  <a:tcPr/>
                </a:tc>
                <a:tc>
                  <a:txBody>
                    <a:bodyPr/>
                    <a:lstStyle/>
                    <a:p>
                      <a:r>
                        <a:rPr lang="en-GB" dirty="0"/>
                        <a:t>65</a:t>
                      </a:r>
                    </a:p>
                  </a:txBody>
                  <a:tcPr/>
                </a:tc>
                <a:tc>
                  <a:txBody>
                    <a:bodyPr/>
                    <a:lstStyle/>
                    <a:p>
                      <a:r>
                        <a:rPr lang="en-GB" dirty="0"/>
                        <a:t>83</a:t>
                      </a:r>
                    </a:p>
                  </a:txBody>
                  <a:tcPr/>
                </a:tc>
                <a:extLst>
                  <a:ext uri="{0D108BD9-81ED-4DB2-BD59-A6C34878D82A}">
                    <a16:rowId xmlns:a16="http://schemas.microsoft.com/office/drawing/2014/main" val="1631202868"/>
                  </a:ext>
                </a:extLst>
              </a:tr>
              <a:tr h="370018">
                <a:tc>
                  <a:txBody>
                    <a:bodyPr/>
                    <a:lstStyle/>
                    <a:p>
                      <a:r>
                        <a:rPr lang="en-GB" dirty="0"/>
                        <a:t>Guatemala</a:t>
                      </a:r>
                    </a:p>
                  </a:txBody>
                  <a:tcPr/>
                </a:tc>
                <a:tc>
                  <a:txBody>
                    <a:bodyPr/>
                    <a:lstStyle/>
                    <a:p>
                      <a:r>
                        <a:rPr lang="en-GB" dirty="0"/>
                        <a:t>27</a:t>
                      </a:r>
                    </a:p>
                  </a:txBody>
                  <a:tcPr/>
                </a:tc>
                <a:tc>
                  <a:txBody>
                    <a:bodyPr/>
                    <a:lstStyle/>
                    <a:p>
                      <a:r>
                        <a:rPr lang="en-GB" dirty="0"/>
                        <a:t>100</a:t>
                      </a:r>
                    </a:p>
                  </a:txBody>
                  <a:tcPr/>
                </a:tc>
                <a:tc>
                  <a:txBody>
                    <a:bodyPr/>
                    <a:lstStyle/>
                    <a:p>
                      <a:r>
                        <a:rPr lang="en-GB" dirty="0"/>
                        <a:t>73</a:t>
                      </a:r>
                    </a:p>
                  </a:txBody>
                  <a:tcPr/>
                </a:tc>
                <a:extLst>
                  <a:ext uri="{0D108BD9-81ED-4DB2-BD59-A6C34878D82A}">
                    <a16:rowId xmlns:a16="http://schemas.microsoft.com/office/drawing/2014/main" val="1861295680"/>
                  </a:ext>
                </a:extLst>
              </a:tr>
              <a:tr h="370018">
                <a:tc>
                  <a:txBody>
                    <a:bodyPr/>
                    <a:lstStyle/>
                    <a:p>
                      <a:r>
                        <a:rPr lang="en-GB" dirty="0"/>
                        <a:t>Hong Kong</a:t>
                      </a:r>
                    </a:p>
                  </a:txBody>
                  <a:tcPr/>
                </a:tc>
                <a:tc>
                  <a:txBody>
                    <a:bodyPr/>
                    <a:lstStyle/>
                    <a:p>
                      <a:r>
                        <a:rPr lang="en-GB" dirty="0"/>
                        <a:t>76</a:t>
                      </a:r>
                    </a:p>
                  </a:txBody>
                  <a:tcPr/>
                </a:tc>
                <a:tc>
                  <a:txBody>
                    <a:bodyPr/>
                    <a:lstStyle/>
                    <a:p>
                      <a:r>
                        <a:rPr lang="en-GB" dirty="0"/>
                        <a:t>9</a:t>
                      </a:r>
                    </a:p>
                  </a:txBody>
                  <a:tcPr/>
                </a:tc>
                <a:tc>
                  <a:txBody>
                    <a:bodyPr/>
                    <a:lstStyle/>
                    <a:p>
                      <a:r>
                        <a:rPr lang="en-GB" dirty="0"/>
                        <a:t>67</a:t>
                      </a:r>
                    </a:p>
                  </a:txBody>
                  <a:tcPr/>
                </a:tc>
                <a:extLst>
                  <a:ext uri="{0D108BD9-81ED-4DB2-BD59-A6C34878D82A}">
                    <a16:rowId xmlns:a16="http://schemas.microsoft.com/office/drawing/2014/main" val="4006631907"/>
                  </a:ext>
                </a:extLst>
              </a:tr>
              <a:tr h="370018">
                <a:tc>
                  <a:txBody>
                    <a:bodyPr/>
                    <a:lstStyle/>
                    <a:p>
                      <a:r>
                        <a:rPr lang="en-GB" dirty="0"/>
                        <a:t>El Salvador</a:t>
                      </a:r>
                    </a:p>
                  </a:txBody>
                  <a:tcPr/>
                </a:tc>
                <a:tc>
                  <a:txBody>
                    <a:bodyPr/>
                    <a:lstStyle/>
                    <a:p>
                      <a:r>
                        <a:rPr lang="en-GB" dirty="0"/>
                        <a:t>35</a:t>
                      </a:r>
                    </a:p>
                  </a:txBody>
                  <a:tcPr/>
                </a:tc>
                <a:tc>
                  <a:txBody>
                    <a:bodyPr/>
                    <a:lstStyle/>
                    <a:p>
                      <a:r>
                        <a:rPr lang="en-GB" dirty="0"/>
                        <a:t>102</a:t>
                      </a:r>
                    </a:p>
                  </a:txBody>
                  <a:tcPr/>
                </a:tc>
                <a:tc>
                  <a:txBody>
                    <a:bodyPr/>
                    <a:lstStyle/>
                    <a:p>
                      <a:r>
                        <a:rPr lang="en-GB" dirty="0"/>
                        <a:t>67</a:t>
                      </a:r>
                    </a:p>
                  </a:txBody>
                  <a:tcPr/>
                </a:tc>
                <a:extLst>
                  <a:ext uri="{0D108BD9-81ED-4DB2-BD59-A6C34878D82A}">
                    <a16:rowId xmlns:a16="http://schemas.microsoft.com/office/drawing/2014/main" val="1157552072"/>
                  </a:ext>
                </a:extLst>
              </a:tr>
              <a:tr h="370018">
                <a:tc>
                  <a:txBody>
                    <a:bodyPr/>
                    <a:lstStyle/>
                    <a:p>
                      <a:r>
                        <a:rPr lang="en-GB" dirty="0"/>
                        <a:t>Uzbekistan</a:t>
                      </a:r>
                    </a:p>
                  </a:txBody>
                  <a:tcPr/>
                </a:tc>
                <a:tc>
                  <a:txBody>
                    <a:bodyPr/>
                    <a:lstStyle/>
                    <a:p>
                      <a:r>
                        <a:rPr lang="en-GB" dirty="0"/>
                        <a:t>41</a:t>
                      </a:r>
                    </a:p>
                  </a:txBody>
                  <a:tcPr/>
                </a:tc>
                <a:tc>
                  <a:txBody>
                    <a:bodyPr/>
                    <a:lstStyle/>
                    <a:p>
                      <a:r>
                        <a:rPr lang="en-GB" dirty="0"/>
                        <a:t>106</a:t>
                      </a:r>
                    </a:p>
                  </a:txBody>
                  <a:tcPr/>
                </a:tc>
                <a:tc>
                  <a:txBody>
                    <a:bodyPr/>
                    <a:lstStyle/>
                    <a:p>
                      <a:r>
                        <a:rPr lang="en-GB" dirty="0"/>
                        <a:t>65</a:t>
                      </a:r>
                    </a:p>
                  </a:txBody>
                  <a:tcPr/>
                </a:tc>
                <a:extLst>
                  <a:ext uri="{0D108BD9-81ED-4DB2-BD59-A6C34878D82A}">
                    <a16:rowId xmlns:a16="http://schemas.microsoft.com/office/drawing/2014/main" val="2173514080"/>
                  </a:ext>
                </a:extLst>
              </a:tr>
              <a:tr h="370018">
                <a:tc>
                  <a:txBody>
                    <a:bodyPr/>
                    <a:lstStyle/>
                    <a:p>
                      <a:r>
                        <a:rPr lang="en-GB" dirty="0"/>
                        <a:t>Nicaragua</a:t>
                      </a:r>
                    </a:p>
                  </a:txBody>
                  <a:tcPr/>
                </a:tc>
                <a:tc>
                  <a:txBody>
                    <a:bodyPr/>
                    <a:lstStyle/>
                    <a:p>
                      <a:r>
                        <a:rPr lang="en-GB" dirty="0"/>
                        <a:t>45</a:t>
                      </a:r>
                    </a:p>
                  </a:txBody>
                  <a:tcPr/>
                </a:tc>
                <a:tc>
                  <a:txBody>
                    <a:bodyPr/>
                    <a:lstStyle/>
                    <a:p>
                      <a:r>
                        <a:rPr lang="en-GB" dirty="0"/>
                        <a:t>110</a:t>
                      </a:r>
                    </a:p>
                  </a:txBody>
                  <a:tcPr/>
                </a:tc>
                <a:tc>
                  <a:txBody>
                    <a:bodyPr/>
                    <a:lstStyle/>
                    <a:p>
                      <a:r>
                        <a:rPr lang="en-GB" dirty="0"/>
                        <a:t>65</a:t>
                      </a:r>
                    </a:p>
                  </a:txBody>
                  <a:tcPr/>
                </a:tc>
                <a:extLst>
                  <a:ext uri="{0D108BD9-81ED-4DB2-BD59-A6C34878D82A}">
                    <a16:rowId xmlns:a16="http://schemas.microsoft.com/office/drawing/2014/main" val="738980465"/>
                  </a:ext>
                </a:extLst>
              </a:tr>
              <a:tr h="370018">
                <a:tc>
                  <a:txBody>
                    <a:bodyPr/>
                    <a:lstStyle/>
                    <a:p>
                      <a:r>
                        <a:rPr lang="en-GB" dirty="0"/>
                        <a:t>Iraq</a:t>
                      </a:r>
                    </a:p>
                  </a:txBody>
                  <a:tcPr/>
                </a:tc>
                <a:tc>
                  <a:txBody>
                    <a:bodyPr/>
                    <a:lstStyle/>
                    <a:p>
                      <a:r>
                        <a:rPr lang="en-GB" dirty="0"/>
                        <a:t>126</a:t>
                      </a:r>
                    </a:p>
                  </a:txBody>
                  <a:tcPr/>
                </a:tc>
                <a:tc>
                  <a:txBody>
                    <a:bodyPr/>
                    <a:lstStyle/>
                    <a:p>
                      <a:r>
                        <a:rPr lang="en-GB" dirty="0"/>
                        <a:t>65</a:t>
                      </a:r>
                    </a:p>
                  </a:txBody>
                  <a:tcPr/>
                </a:tc>
                <a:tc>
                  <a:txBody>
                    <a:bodyPr/>
                    <a:lstStyle/>
                    <a:p>
                      <a:r>
                        <a:rPr lang="en-GB" dirty="0"/>
                        <a:t>61</a:t>
                      </a:r>
                    </a:p>
                  </a:txBody>
                  <a:tcPr/>
                </a:tc>
                <a:extLst>
                  <a:ext uri="{0D108BD9-81ED-4DB2-BD59-A6C34878D82A}">
                    <a16:rowId xmlns:a16="http://schemas.microsoft.com/office/drawing/2014/main" val="1083669456"/>
                  </a:ext>
                </a:extLst>
              </a:tr>
              <a:tr h="370018">
                <a:tc>
                  <a:txBody>
                    <a:bodyPr/>
                    <a:lstStyle/>
                    <a:p>
                      <a:r>
                        <a:rPr lang="en-GB" dirty="0"/>
                        <a:t>Iran</a:t>
                      </a:r>
                    </a:p>
                  </a:txBody>
                  <a:tcPr/>
                </a:tc>
                <a:tc>
                  <a:txBody>
                    <a:bodyPr/>
                    <a:lstStyle/>
                    <a:p>
                      <a:r>
                        <a:rPr lang="en-GB" dirty="0"/>
                        <a:t>117</a:t>
                      </a:r>
                    </a:p>
                  </a:txBody>
                  <a:tcPr/>
                </a:tc>
                <a:tc>
                  <a:txBody>
                    <a:bodyPr/>
                    <a:lstStyle/>
                    <a:p>
                      <a:r>
                        <a:rPr lang="en-GB" dirty="0"/>
                        <a:t>56</a:t>
                      </a:r>
                    </a:p>
                  </a:txBody>
                  <a:tcPr/>
                </a:tc>
                <a:tc>
                  <a:txBody>
                    <a:bodyPr/>
                    <a:lstStyle/>
                    <a:p>
                      <a:r>
                        <a:rPr lang="en-GB" dirty="0"/>
                        <a:t>61</a:t>
                      </a:r>
                    </a:p>
                  </a:txBody>
                  <a:tcPr/>
                </a:tc>
                <a:extLst>
                  <a:ext uri="{0D108BD9-81ED-4DB2-BD59-A6C34878D82A}">
                    <a16:rowId xmlns:a16="http://schemas.microsoft.com/office/drawing/2014/main" val="2961028731"/>
                  </a:ext>
                </a:extLst>
              </a:tr>
              <a:tr h="370018">
                <a:tc>
                  <a:txBody>
                    <a:bodyPr/>
                    <a:lstStyle/>
                    <a:p>
                      <a:r>
                        <a:rPr lang="en-GB" dirty="0"/>
                        <a:t>Costa Rica</a:t>
                      </a:r>
                    </a:p>
                  </a:txBody>
                  <a:tcPr/>
                </a:tc>
                <a:tc>
                  <a:txBody>
                    <a:bodyPr/>
                    <a:lstStyle/>
                    <a:p>
                      <a:r>
                        <a:rPr lang="en-GB" dirty="0"/>
                        <a:t>12</a:t>
                      </a:r>
                    </a:p>
                  </a:txBody>
                  <a:tcPr/>
                </a:tc>
                <a:tc>
                  <a:txBody>
                    <a:bodyPr/>
                    <a:lstStyle/>
                    <a:p>
                      <a:r>
                        <a:rPr lang="en-GB" dirty="0"/>
                        <a:t>69</a:t>
                      </a:r>
                    </a:p>
                  </a:txBody>
                  <a:tcPr/>
                </a:tc>
                <a:tc>
                  <a:txBody>
                    <a:bodyPr/>
                    <a:lstStyle/>
                    <a:p>
                      <a:r>
                        <a:rPr lang="en-GB" dirty="0"/>
                        <a:t>57</a:t>
                      </a:r>
                    </a:p>
                  </a:txBody>
                  <a:tcPr/>
                </a:tc>
                <a:extLst>
                  <a:ext uri="{0D108BD9-81ED-4DB2-BD59-A6C34878D82A}">
                    <a16:rowId xmlns:a16="http://schemas.microsoft.com/office/drawing/2014/main" val="3023818531"/>
                  </a:ext>
                </a:extLst>
              </a:tr>
              <a:tr h="370018">
                <a:tc>
                  <a:txBody>
                    <a:bodyPr/>
                    <a:lstStyle/>
                    <a:p>
                      <a:r>
                        <a:rPr lang="en-GB" dirty="0"/>
                        <a:t>Honduras</a:t>
                      </a:r>
                    </a:p>
                  </a:txBody>
                  <a:tcPr/>
                </a:tc>
                <a:tc>
                  <a:txBody>
                    <a:bodyPr/>
                    <a:lstStyle/>
                    <a:p>
                      <a:r>
                        <a:rPr lang="en-GB" dirty="0"/>
                        <a:t>59</a:t>
                      </a:r>
                    </a:p>
                  </a:txBody>
                  <a:tcPr/>
                </a:tc>
                <a:tc>
                  <a:txBody>
                    <a:bodyPr/>
                    <a:lstStyle/>
                    <a:p>
                      <a:r>
                        <a:rPr lang="en-GB" dirty="0"/>
                        <a:t>115</a:t>
                      </a:r>
                    </a:p>
                  </a:txBody>
                  <a:tcPr/>
                </a:tc>
                <a:tc>
                  <a:txBody>
                    <a:bodyPr/>
                    <a:lstStyle/>
                    <a:p>
                      <a:r>
                        <a:rPr lang="en-GB" dirty="0"/>
                        <a:t>56</a:t>
                      </a:r>
                    </a:p>
                  </a:txBody>
                  <a:tcPr/>
                </a:tc>
                <a:extLst>
                  <a:ext uri="{0D108BD9-81ED-4DB2-BD59-A6C34878D82A}">
                    <a16:rowId xmlns:a16="http://schemas.microsoft.com/office/drawing/2014/main" val="3020001805"/>
                  </a:ext>
                </a:extLst>
              </a:tr>
              <a:tr h="370018">
                <a:tc>
                  <a:txBody>
                    <a:bodyPr/>
                    <a:lstStyle/>
                    <a:p>
                      <a:r>
                        <a:rPr lang="en-GB" dirty="0"/>
                        <a:t>Tajikistan</a:t>
                      </a:r>
                    </a:p>
                  </a:txBody>
                  <a:tcPr/>
                </a:tc>
                <a:tc>
                  <a:txBody>
                    <a:bodyPr/>
                    <a:lstStyle/>
                    <a:p>
                      <a:r>
                        <a:rPr lang="en-GB" dirty="0"/>
                        <a:t>74</a:t>
                      </a:r>
                    </a:p>
                  </a:txBody>
                  <a:tcPr/>
                </a:tc>
                <a:tc>
                  <a:txBody>
                    <a:bodyPr/>
                    <a:lstStyle/>
                    <a:p>
                      <a:r>
                        <a:rPr lang="en-GB" dirty="0"/>
                        <a:t>126</a:t>
                      </a:r>
                    </a:p>
                  </a:txBody>
                  <a:tcPr/>
                </a:tc>
                <a:tc>
                  <a:txBody>
                    <a:bodyPr/>
                    <a:lstStyle/>
                    <a:p>
                      <a:r>
                        <a:rPr lang="en-GB" dirty="0"/>
                        <a:t>52</a:t>
                      </a:r>
                    </a:p>
                  </a:txBody>
                  <a:tcPr/>
                </a:tc>
                <a:extLst>
                  <a:ext uri="{0D108BD9-81ED-4DB2-BD59-A6C34878D82A}">
                    <a16:rowId xmlns:a16="http://schemas.microsoft.com/office/drawing/2014/main" val="973165754"/>
                  </a:ext>
                </a:extLst>
              </a:tr>
              <a:tr h="370018">
                <a:tc>
                  <a:txBody>
                    <a:bodyPr/>
                    <a:lstStyle/>
                    <a:p>
                      <a:r>
                        <a:rPr lang="en-GB" dirty="0"/>
                        <a:t>Egypt</a:t>
                      </a:r>
                    </a:p>
                  </a:txBody>
                  <a:tcPr/>
                </a:tc>
                <a:tc>
                  <a:txBody>
                    <a:bodyPr/>
                    <a:lstStyle/>
                    <a:p>
                      <a:r>
                        <a:rPr lang="en-GB" dirty="0"/>
                        <a:t>137</a:t>
                      </a:r>
                    </a:p>
                  </a:txBody>
                  <a:tcPr/>
                </a:tc>
                <a:tc>
                  <a:txBody>
                    <a:bodyPr/>
                    <a:lstStyle/>
                    <a:p>
                      <a:r>
                        <a:rPr lang="en-GB" dirty="0"/>
                        <a:t>87</a:t>
                      </a:r>
                    </a:p>
                  </a:txBody>
                  <a:tcPr/>
                </a:tc>
                <a:tc>
                  <a:txBody>
                    <a:bodyPr/>
                    <a:lstStyle/>
                    <a:p>
                      <a:r>
                        <a:rPr lang="en-GB" dirty="0"/>
                        <a:t>50</a:t>
                      </a:r>
                    </a:p>
                  </a:txBody>
                  <a:tcPr/>
                </a:tc>
                <a:extLst>
                  <a:ext uri="{0D108BD9-81ED-4DB2-BD59-A6C34878D82A}">
                    <a16:rowId xmlns:a16="http://schemas.microsoft.com/office/drawing/2014/main" val="3619927382"/>
                  </a:ext>
                </a:extLst>
              </a:tr>
            </a:tbl>
          </a:graphicData>
        </a:graphic>
      </p:graphicFrame>
      <p:sp>
        <p:nvSpPr>
          <p:cNvPr id="3" name="TextBox 2">
            <a:extLst>
              <a:ext uri="{FF2B5EF4-FFF2-40B4-BE49-F238E27FC236}">
                <a16:creationId xmlns:a16="http://schemas.microsoft.com/office/drawing/2014/main" id="{2375A4FE-06EB-CDF6-F8B6-E56AD35070E9}"/>
              </a:ext>
            </a:extLst>
          </p:cNvPr>
          <p:cNvSpPr txBox="1"/>
          <p:nvPr/>
        </p:nvSpPr>
        <p:spPr>
          <a:xfrm>
            <a:off x="7899400" y="1997839"/>
            <a:ext cx="3556000" cy="3416320"/>
          </a:xfrm>
          <a:prstGeom prst="rect">
            <a:avLst/>
          </a:prstGeom>
          <a:noFill/>
        </p:spPr>
        <p:txBody>
          <a:bodyPr wrap="square" rtlCol="0">
            <a:spAutoFit/>
          </a:bodyPr>
          <a:lstStyle/>
          <a:p>
            <a:r>
              <a:rPr lang="en-GB" b="1" dirty="0">
                <a:solidFill>
                  <a:schemeClr val="bg1"/>
                </a:solidFill>
              </a:rPr>
              <a:t>	</a:t>
            </a:r>
            <a:r>
              <a:rPr lang="en-GB" b="1" u="sng" dirty="0">
                <a:solidFill>
                  <a:schemeClr val="bg1"/>
                </a:solidFill>
              </a:rPr>
              <a:t>Key Insights:</a:t>
            </a:r>
          </a:p>
          <a:p>
            <a:endParaRPr lang="en-GB" b="1" u="sng" dirty="0">
              <a:solidFill>
                <a:schemeClr val="bg1"/>
              </a:solidFill>
            </a:endParaRPr>
          </a:p>
          <a:p>
            <a:pPr marL="285750" indent="-285750">
              <a:buFont typeface="Arial" panose="020B0604020202020204" pitchFamily="34" charset="0"/>
              <a:buChar char="•"/>
            </a:pPr>
            <a:r>
              <a:rPr lang="en-GB" sz="1200" dirty="0">
                <a:solidFill>
                  <a:schemeClr val="bg1"/>
                </a:solidFill>
              </a:rPr>
              <a:t>Hong Kong (GDP rank 9, Happiness rank 76) stands out as a wealthy country with much lower happiness ranking (difference of 67). This indicates that high income alone does not guarantee high well-being.</a:t>
            </a:r>
          </a:p>
          <a:p>
            <a:pPr marL="285750" indent="-285750">
              <a:buFont typeface="Arial" panose="020B0604020202020204" pitchFamily="34" charset="0"/>
              <a:buChar char="•"/>
            </a:pPr>
            <a:endParaRPr lang="en-GB" sz="1200" dirty="0">
              <a:solidFill>
                <a:schemeClr val="bg1"/>
              </a:solidFill>
            </a:endParaRPr>
          </a:p>
          <a:p>
            <a:pPr marL="285750" indent="-285750">
              <a:buFont typeface="Arial" panose="020B0604020202020204" pitchFamily="34" charset="0"/>
              <a:buChar char="•"/>
            </a:pPr>
            <a:r>
              <a:rPr lang="en-GB" sz="1200" dirty="0">
                <a:solidFill>
                  <a:schemeClr val="bg1"/>
                </a:solidFill>
              </a:rPr>
              <a:t>Countries (Happiness vs GDP) such as Guatemala (27 vs 100), El Salvador (35 vs 102), Nicaragua (45 vs 110), and Uzbekistan (41 vs. 106) rank higher in happiness than in GDP</a:t>
            </a:r>
          </a:p>
          <a:p>
            <a:pPr marL="285750" indent="-285750">
              <a:buFont typeface="Arial" panose="020B0604020202020204" pitchFamily="34" charset="0"/>
              <a:buChar char="•"/>
            </a:pPr>
            <a:endParaRPr lang="en-GB" sz="1200" dirty="0">
              <a:solidFill>
                <a:schemeClr val="bg1"/>
              </a:solidFill>
            </a:endParaRPr>
          </a:p>
          <a:p>
            <a:pPr marL="285750" indent="-285750">
              <a:buFont typeface="Arial" panose="020B0604020202020204" pitchFamily="34" charset="0"/>
              <a:buChar char="•"/>
            </a:pPr>
            <a:r>
              <a:rPr lang="en-GB" sz="1200" dirty="0">
                <a:solidFill>
                  <a:schemeClr val="bg1"/>
                </a:solidFill>
              </a:rPr>
              <a:t>This suggests non-economic factors (social support, culture, community ties) may significantly influence happiness.</a:t>
            </a:r>
          </a:p>
        </p:txBody>
      </p:sp>
    </p:spTree>
    <p:extLst>
      <p:ext uri="{BB962C8B-B14F-4D97-AF65-F5344CB8AC3E}">
        <p14:creationId xmlns:p14="http://schemas.microsoft.com/office/powerpoint/2010/main" val="1770994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1146175" y="0"/>
            <a:ext cx="6188075" cy="757130"/>
          </a:xfrm>
        </p:spPr>
        <p:txBody>
          <a:bodyPr/>
          <a:lstStyle/>
          <a:p>
            <a:r>
              <a:rPr lang="en-US" sz="4800" dirty="0"/>
              <a:t>Recommendations for policy makers</a:t>
            </a:r>
            <a:endParaRPr lang="en-US" sz="2800"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5" name="TextBox 4">
            <a:extLst>
              <a:ext uri="{FF2B5EF4-FFF2-40B4-BE49-F238E27FC236}">
                <a16:creationId xmlns:a16="http://schemas.microsoft.com/office/drawing/2014/main" id="{F11F923B-C96B-285B-7372-29A8B228CA1A}"/>
              </a:ext>
            </a:extLst>
          </p:cNvPr>
          <p:cNvSpPr txBox="1"/>
          <p:nvPr/>
        </p:nvSpPr>
        <p:spPr>
          <a:xfrm>
            <a:off x="95250" y="2093892"/>
            <a:ext cx="3943350" cy="3447098"/>
          </a:xfrm>
          <a:prstGeom prst="rect">
            <a:avLst/>
          </a:prstGeom>
          <a:noFill/>
        </p:spPr>
        <p:txBody>
          <a:bodyPr wrap="square" rtlCol="0">
            <a:spAutoFit/>
          </a:bodyPr>
          <a:lstStyle/>
          <a:p>
            <a:r>
              <a:rPr lang="en-GB" sz="2000" b="1" dirty="0">
                <a:solidFill>
                  <a:schemeClr val="bg1"/>
                </a:solidFill>
              </a:rPr>
              <a:t>Prioritize Social Well-being</a:t>
            </a:r>
            <a:br>
              <a:rPr lang="en-GB" sz="1600" dirty="0"/>
            </a:br>
            <a:endParaRPr lang="en-GB" sz="1600" dirty="0"/>
          </a:p>
          <a:p>
            <a:r>
              <a:rPr lang="en-GB" sz="1400" dirty="0">
                <a:solidFill>
                  <a:schemeClr val="bg1"/>
                </a:solidFill>
              </a:rPr>
              <a:t>While GDP plays a vital role in prosperity, the data suggests that other factors including social support, trust and corruption levels, have a stronger impact on happiness.</a:t>
            </a:r>
          </a:p>
          <a:p>
            <a:endParaRPr lang="en-GB" sz="1400" dirty="0">
              <a:solidFill>
                <a:schemeClr val="bg1"/>
              </a:solidFill>
            </a:endParaRPr>
          </a:p>
          <a:p>
            <a:r>
              <a:rPr lang="en-GB" sz="1400" dirty="0">
                <a:solidFill>
                  <a:schemeClr val="bg1"/>
                </a:solidFill>
              </a:rPr>
              <a:t>Policymakers should focus on improving social services, healthcare and community to enhance overall happiness.</a:t>
            </a:r>
          </a:p>
          <a:p>
            <a:endParaRPr lang="en-GB" sz="1400" dirty="0">
              <a:solidFill>
                <a:schemeClr val="bg1"/>
              </a:solidFill>
            </a:endParaRPr>
          </a:p>
          <a:p>
            <a:r>
              <a:rPr lang="en-GB" sz="1400" dirty="0">
                <a:solidFill>
                  <a:schemeClr val="bg1"/>
                </a:solidFill>
              </a:rPr>
              <a:t>Countries with the highest social support are the happiest. For example, Iceland (1.62 social) is rank 4 in happiness and Finland (1.59 social) is rank 1 in happiness.</a:t>
            </a:r>
            <a:endParaRPr lang="en-GB" sz="1600" dirty="0">
              <a:solidFill>
                <a:schemeClr val="bg1"/>
              </a:solidFill>
            </a:endParaRPr>
          </a:p>
        </p:txBody>
      </p:sp>
      <p:sp>
        <p:nvSpPr>
          <p:cNvPr id="6" name="TextBox 5">
            <a:extLst>
              <a:ext uri="{FF2B5EF4-FFF2-40B4-BE49-F238E27FC236}">
                <a16:creationId xmlns:a16="http://schemas.microsoft.com/office/drawing/2014/main" id="{84A32208-64AB-8135-A080-CB1741FA448A}"/>
              </a:ext>
            </a:extLst>
          </p:cNvPr>
          <p:cNvSpPr txBox="1"/>
          <p:nvPr/>
        </p:nvSpPr>
        <p:spPr>
          <a:xfrm>
            <a:off x="4139406" y="2093892"/>
            <a:ext cx="3943351" cy="2277547"/>
          </a:xfrm>
          <a:prstGeom prst="rect">
            <a:avLst/>
          </a:prstGeom>
          <a:noFill/>
        </p:spPr>
        <p:txBody>
          <a:bodyPr wrap="square">
            <a:spAutoFit/>
          </a:bodyPr>
          <a:lstStyle/>
          <a:p>
            <a:r>
              <a:rPr lang="en-GB" sz="2000" b="1" dirty="0">
                <a:solidFill>
                  <a:schemeClr val="bg1"/>
                </a:solidFill>
              </a:rPr>
              <a:t>Combat Corruption for Greater Happiness</a:t>
            </a:r>
          </a:p>
          <a:p>
            <a:br>
              <a:rPr lang="en-GB" dirty="0"/>
            </a:br>
            <a:r>
              <a:rPr lang="en-GB" sz="1400" dirty="0">
                <a:solidFill>
                  <a:schemeClr val="bg1"/>
                </a:solidFill>
              </a:rPr>
              <a:t>Countries with lower corruption perception tend to report higher happiness levels.</a:t>
            </a:r>
          </a:p>
          <a:p>
            <a:endParaRPr lang="en-GB" sz="1400" dirty="0">
              <a:solidFill>
                <a:schemeClr val="bg1"/>
              </a:solidFill>
            </a:endParaRPr>
          </a:p>
          <a:p>
            <a:r>
              <a:rPr lang="en-GB" sz="1400" dirty="0">
                <a:solidFill>
                  <a:schemeClr val="bg1"/>
                </a:solidFill>
              </a:rPr>
              <a:t>Implementing strong anti-corruption measures, transparency and accountability in governance could improve citizens’ quality of life.</a:t>
            </a:r>
          </a:p>
        </p:txBody>
      </p:sp>
      <p:sp>
        <p:nvSpPr>
          <p:cNvPr id="8" name="TextBox 7">
            <a:extLst>
              <a:ext uri="{FF2B5EF4-FFF2-40B4-BE49-F238E27FC236}">
                <a16:creationId xmlns:a16="http://schemas.microsoft.com/office/drawing/2014/main" id="{AE7CF9A3-3470-C347-C875-22F1AA7BADB3}"/>
              </a:ext>
            </a:extLst>
          </p:cNvPr>
          <p:cNvSpPr txBox="1"/>
          <p:nvPr/>
        </p:nvSpPr>
        <p:spPr>
          <a:xfrm>
            <a:off x="8153400" y="2093892"/>
            <a:ext cx="4038600" cy="3139321"/>
          </a:xfrm>
          <a:prstGeom prst="rect">
            <a:avLst/>
          </a:prstGeom>
          <a:noFill/>
        </p:spPr>
        <p:txBody>
          <a:bodyPr wrap="square">
            <a:spAutoFit/>
          </a:bodyPr>
          <a:lstStyle/>
          <a:p>
            <a:r>
              <a:rPr lang="en-GB" sz="2000" b="1" dirty="0">
                <a:solidFill>
                  <a:schemeClr val="bg1"/>
                </a:solidFill>
              </a:rPr>
              <a:t>Encourage Other Avenues Over GDP Alone</a:t>
            </a:r>
          </a:p>
          <a:p>
            <a:br>
              <a:rPr lang="en-GB" dirty="0"/>
            </a:br>
            <a:r>
              <a:rPr lang="en-GB" sz="1400" dirty="0">
                <a:solidFill>
                  <a:schemeClr val="bg1"/>
                </a:solidFill>
              </a:rPr>
              <a:t>The large difference between GDP rank and happiness rank, especially in countries like Guatemala and Botswana, suggests that improving in other areas rather than just economic output, can lead to greater happiness.</a:t>
            </a:r>
          </a:p>
          <a:p>
            <a:endParaRPr lang="en-GB" sz="1400" dirty="0">
              <a:solidFill>
                <a:schemeClr val="bg1"/>
              </a:solidFill>
            </a:endParaRPr>
          </a:p>
          <a:p>
            <a:r>
              <a:rPr lang="en-GB" sz="1400" dirty="0">
                <a:solidFill>
                  <a:schemeClr val="bg1"/>
                </a:solidFill>
              </a:rPr>
              <a:t>Policymakers should focus on development that balances economic growth with other variables such as freedom to make life choices and increasing life expectancy.</a:t>
            </a:r>
          </a:p>
        </p:txBody>
      </p:sp>
      <p:cxnSp>
        <p:nvCxnSpPr>
          <p:cNvPr id="11" name="Straight Connector 10">
            <a:extLst>
              <a:ext uri="{FF2B5EF4-FFF2-40B4-BE49-F238E27FC236}">
                <a16:creationId xmlns:a16="http://schemas.microsoft.com/office/drawing/2014/main" id="{C4040E50-07F8-D9E1-E32E-49EF4E0FA80F}"/>
              </a:ext>
            </a:extLst>
          </p:cNvPr>
          <p:cNvCxnSpPr/>
          <p:nvPr/>
        </p:nvCxnSpPr>
        <p:spPr>
          <a:xfrm>
            <a:off x="4038600" y="2093892"/>
            <a:ext cx="0" cy="3992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C81254-E519-96D4-CECB-77B3B3BC9D3A}"/>
              </a:ext>
            </a:extLst>
          </p:cNvPr>
          <p:cNvCxnSpPr/>
          <p:nvPr/>
        </p:nvCxnSpPr>
        <p:spPr>
          <a:xfrm>
            <a:off x="8082757" y="2093891"/>
            <a:ext cx="0" cy="3992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072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627</TotalTime>
  <Words>688</Words>
  <Application>Microsoft Office PowerPoint</Application>
  <PresentationFormat>Widescreen</PresentationFormat>
  <Paragraphs>149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Trade Gothic LT Pro</vt:lpstr>
      <vt:lpstr>Trebuchet MS</vt:lpstr>
      <vt:lpstr>Office Theme</vt:lpstr>
      <vt:lpstr>SQL Project: Exploring Global Happiness with SQL</vt:lpstr>
      <vt:lpstr>All Countries and their happiness scores</vt:lpstr>
      <vt:lpstr>Top 10 happiest VS Bottom 10 Countries</vt:lpstr>
      <vt:lpstr>Dataset Overview</vt:lpstr>
      <vt:lpstr>Average Global Happiness Score</vt:lpstr>
      <vt:lpstr>PowerPoint Presentation</vt:lpstr>
      <vt:lpstr>Top 5 countries with the highest social support</vt:lpstr>
      <vt:lpstr>Top 5 countries ranked by healthy life expectancy</vt:lpstr>
      <vt:lpstr>15 lowest corruption perception countries vs happiness scores</vt:lpstr>
      <vt:lpstr>Generosity vs happiness correlation (above vs below average generosity)</vt:lpstr>
      <vt:lpstr>Countries with the largest difference between GDP rank and happiness rank</vt:lpstr>
      <vt:lpstr>Recommendations for policy makers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dc:creator>
  <cp:lastModifiedBy>Robert</cp:lastModifiedBy>
  <cp:revision>62</cp:revision>
  <dcterms:created xsi:type="dcterms:W3CDTF">2026-02-21T15:53:55Z</dcterms:created>
  <dcterms:modified xsi:type="dcterms:W3CDTF">2026-02-27T01:01:47Z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